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Glacial Indifference" charset="1" panose="00000000000000000000"/>
      <p:regular r:id="rId19"/>
    </p:embeddedFont>
    <p:embeddedFont>
      <p:font typeface="Poppins Bold" charset="1" panose="00000800000000000000"/>
      <p:regular r:id="rId20"/>
    </p:embeddedFont>
    <p:embeddedFont>
      <p:font typeface="League Spartan" charset="1" panose="00000800000000000000"/>
      <p:regular r:id="rId21"/>
    </p:embeddedFont>
    <p:embeddedFont>
      <p:font typeface="Arimo" charset="1" panose="020B0604020202020204"/>
      <p:regular r:id="rId22"/>
    </p:embeddedFont>
    <p:embeddedFont>
      <p:font typeface="Glacial Indifference Bold" charset="1" panose="000008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9.png" Type="http://schemas.openxmlformats.org/officeDocument/2006/relationships/image"/><Relationship Id="rId7" Target="../embeddings/oleObject1.bin" Type="http://schemas.openxmlformats.org/officeDocument/2006/relationships/oleObjec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0.png" Type="http://schemas.openxmlformats.org/officeDocument/2006/relationships/image"/><Relationship Id="rId7" Target="../embeddings/oleObject2.bin" Type="http://schemas.openxmlformats.org/officeDocument/2006/relationships/oleObject"/><Relationship Id="rId8" Target="../media/image1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embeddings/oleObject3.bin" Type="http://schemas.openxmlformats.org/officeDocument/2006/relationships/oleObjec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2.png" Type="http://schemas.openxmlformats.org/officeDocument/2006/relationships/image"/><Relationship Id="rId7" Target="../media/image13.png" Type="http://schemas.openxmlformats.org/officeDocument/2006/relationships/image"/><Relationship Id="rId8" Target="../media/image14.png" Type="http://schemas.openxmlformats.org/officeDocument/2006/relationships/image"/><Relationship Id="rId9" Target="../media/image1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6.png" Type="http://schemas.openxmlformats.org/officeDocument/2006/relationships/image"/><Relationship Id="rId7" Target="../media/image17.png" Type="http://schemas.openxmlformats.org/officeDocument/2006/relationships/image"/><Relationship Id="rId8" Target="../embeddings/oleObject4.bin" Type="http://schemas.openxmlformats.org/officeDocument/2006/relationships/oleObject"/><Relationship Id="rId9" Target="../media/image1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9.png" Type="http://schemas.openxmlformats.org/officeDocument/2006/relationships/image"/><Relationship Id="rId7" Target="../media/image20.png" Type="http://schemas.openxmlformats.org/officeDocument/2006/relationships/image"/><Relationship Id="rId8" Target="../media/image2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22.png" Type="http://schemas.openxmlformats.org/officeDocument/2006/relationships/image"/><Relationship Id="rId7" Target="../media/image2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24.png" Type="http://schemas.openxmlformats.org/officeDocument/2006/relationships/image"/><Relationship Id="rId7" Target="../media/image2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26.png" Type="http://schemas.openxmlformats.org/officeDocument/2006/relationships/image"/><Relationship Id="rId7" Target="../embeddings/oleObject5.bin" Type="http://schemas.openxmlformats.org/officeDocument/2006/relationships/oleObjec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6FAFF"/>
        </a:solidFill>
      </p:bgPr>
    </p:bg>
    <p:spTree>
      <p:nvGrpSpPr>
        <p:cNvPr id="1" name=""/>
        <p:cNvGrpSpPr/>
        <p:nvPr/>
      </p:nvGrpSpPr>
      <p:grpSpPr>
        <a:xfrm>
          <a:off x="0" y="0"/>
          <a:ext cx="0" cy="0"/>
          <a:chOff x="0" y="0"/>
          <a:chExt cx="0" cy="0"/>
        </a:xfrm>
      </p:grpSpPr>
      <p:sp>
        <p:nvSpPr>
          <p:cNvPr name="Freeform 2" id="2"/>
          <p:cNvSpPr/>
          <p:nvPr/>
        </p:nvSpPr>
        <p:spPr>
          <a:xfrm flipH="false" flipV="false" rot="4363940">
            <a:off x="-300065" y="2810620"/>
            <a:ext cx="10893107" cy="8796184"/>
          </a:xfrm>
          <a:custGeom>
            <a:avLst/>
            <a:gdLst/>
            <a:ahLst/>
            <a:cxnLst/>
            <a:rect r="r" b="b" t="t" l="l"/>
            <a:pathLst>
              <a:path h="8796184" w="10893107">
                <a:moveTo>
                  <a:pt x="0" y="0"/>
                </a:moveTo>
                <a:lnTo>
                  <a:pt x="10893107" y="0"/>
                </a:lnTo>
                <a:lnTo>
                  <a:pt x="10893107" y="8796184"/>
                </a:lnTo>
                <a:lnTo>
                  <a:pt x="0" y="87961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10767060" y="6575521"/>
            <a:ext cx="6492240" cy="0"/>
          </a:xfrm>
          <a:prstGeom prst="line">
            <a:avLst/>
          </a:prstGeom>
          <a:ln cap="flat" w="38100">
            <a:solidFill>
              <a:srgbClr val="004AAD"/>
            </a:solidFill>
            <a:prstDash val="solid"/>
            <a:headEnd type="none" len="sm" w="sm"/>
            <a:tailEnd type="none" len="sm" w="sm"/>
          </a:ln>
        </p:spPr>
      </p:sp>
      <p:sp>
        <p:nvSpPr>
          <p:cNvPr name="Freeform 4" id="4"/>
          <p:cNvSpPr/>
          <p:nvPr/>
        </p:nvSpPr>
        <p:spPr>
          <a:xfrm flipH="false" flipV="false" rot="0">
            <a:off x="15712392" y="709650"/>
            <a:ext cx="1546908" cy="638099"/>
          </a:xfrm>
          <a:custGeom>
            <a:avLst/>
            <a:gdLst/>
            <a:ahLst/>
            <a:cxnLst/>
            <a:rect r="r" b="b" t="t" l="l"/>
            <a:pathLst>
              <a:path h="638099" w="1546908">
                <a:moveTo>
                  <a:pt x="0" y="0"/>
                </a:moveTo>
                <a:lnTo>
                  <a:pt x="1546908" y="0"/>
                </a:lnTo>
                <a:lnTo>
                  <a:pt x="1546908" y="638100"/>
                </a:lnTo>
                <a:lnTo>
                  <a:pt x="0" y="6381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5712392" y="8939250"/>
            <a:ext cx="1546908" cy="638099"/>
          </a:xfrm>
          <a:custGeom>
            <a:avLst/>
            <a:gdLst/>
            <a:ahLst/>
            <a:cxnLst/>
            <a:rect r="r" b="b" t="t" l="l"/>
            <a:pathLst>
              <a:path h="638099" w="1546908">
                <a:moveTo>
                  <a:pt x="1546908" y="0"/>
                </a:moveTo>
                <a:lnTo>
                  <a:pt x="0" y="0"/>
                </a:lnTo>
                <a:lnTo>
                  <a:pt x="0" y="638100"/>
                </a:lnTo>
                <a:lnTo>
                  <a:pt x="1546908" y="638100"/>
                </a:lnTo>
                <a:lnTo>
                  <a:pt x="154690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12010476" y="7311312"/>
            <a:ext cx="5248824" cy="651214"/>
          </a:xfrm>
          <a:prstGeom prst="rect">
            <a:avLst/>
          </a:prstGeom>
        </p:spPr>
        <p:txBody>
          <a:bodyPr anchor="t" rtlCol="false" tIns="0" lIns="0" bIns="0" rIns="0">
            <a:spAutoFit/>
          </a:bodyPr>
          <a:lstStyle/>
          <a:p>
            <a:pPr algn="r">
              <a:lnSpc>
                <a:spcPts val="4974"/>
              </a:lnSpc>
            </a:pPr>
            <a:r>
              <a:rPr lang="en-US" sz="4605">
                <a:solidFill>
                  <a:srgbClr val="0A3D82"/>
                </a:solidFill>
                <a:latin typeface="Glacial Indifference"/>
                <a:ea typeface="Glacial Indifference"/>
                <a:cs typeface="Glacial Indifference"/>
                <a:sym typeface="Glacial Indifference"/>
              </a:rPr>
              <a:t>Dea dan Lauzia</a:t>
            </a:r>
          </a:p>
        </p:txBody>
      </p:sp>
      <p:sp>
        <p:nvSpPr>
          <p:cNvPr name="TextBox 7" id="7"/>
          <p:cNvSpPr txBox="true"/>
          <p:nvPr/>
        </p:nvSpPr>
        <p:spPr>
          <a:xfrm rot="0">
            <a:off x="4547220" y="3708402"/>
            <a:ext cx="12712080" cy="2651122"/>
          </a:xfrm>
          <a:prstGeom prst="rect">
            <a:avLst/>
          </a:prstGeom>
        </p:spPr>
        <p:txBody>
          <a:bodyPr anchor="t" rtlCol="false" tIns="0" lIns="0" bIns="0" rIns="0">
            <a:spAutoFit/>
          </a:bodyPr>
          <a:lstStyle/>
          <a:p>
            <a:pPr algn="r">
              <a:lnSpc>
                <a:spcPts val="10500"/>
              </a:lnSpc>
            </a:pPr>
            <a:r>
              <a:rPr lang="en-US" b="true" sz="7500">
                <a:solidFill>
                  <a:srgbClr val="004AAD"/>
                </a:solidFill>
                <a:latin typeface="Poppins Bold"/>
                <a:ea typeface="Poppins Bold"/>
                <a:cs typeface="Poppins Bold"/>
                <a:sym typeface="Poppins Bold"/>
              </a:rPr>
              <a:t>OPTIMIZING PROFITABILITY</a:t>
            </a:r>
          </a:p>
          <a:p>
            <a:pPr algn="r">
              <a:lnSpc>
                <a:spcPts val="4900"/>
              </a:lnSpc>
            </a:pPr>
            <a:r>
              <a:rPr lang="en-US" b="true" sz="3500">
                <a:solidFill>
                  <a:srgbClr val="004AAD"/>
                </a:solidFill>
                <a:latin typeface="Poppins Bold"/>
                <a:ea typeface="Poppins Bold"/>
                <a:cs typeface="Poppins Bold"/>
                <a:sym typeface="Poppins Bold"/>
              </a:rPr>
              <a:t>AND DISCOUNT STRATEGY</a:t>
            </a:r>
          </a:p>
          <a:p>
            <a:pPr algn="r">
              <a:lnSpc>
                <a:spcPts val="4900"/>
              </a:lnSpc>
            </a:pPr>
            <a:r>
              <a:rPr lang="en-US" b="true" sz="3500">
                <a:solidFill>
                  <a:srgbClr val="004AAD"/>
                </a:solidFill>
                <a:latin typeface="Poppins Bold"/>
                <a:ea typeface="Poppins Bold"/>
                <a:cs typeface="Poppins Bold"/>
                <a:sym typeface="Poppins Bold"/>
              </a:rPr>
              <a:t>USING RETAIL BUSINESS ANALYTICS DATA</a:t>
            </a:r>
          </a:p>
        </p:txBody>
      </p:sp>
      <p:sp>
        <p:nvSpPr>
          <p:cNvPr name="TextBox 8" id="8"/>
          <p:cNvSpPr txBox="true"/>
          <p:nvPr/>
        </p:nvSpPr>
        <p:spPr>
          <a:xfrm rot="0">
            <a:off x="6519588" y="368961"/>
            <a:ext cx="5248824" cy="493014"/>
          </a:xfrm>
          <a:prstGeom prst="rect">
            <a:avLst/>
          </a:prstGeom>
        </p:spPr>
        <p:txBody>
          <a:bodyPr anchor="t" rtlCol="false" tIns="0" lIns="0" bIns="0" rIns="0">
            <a:spAutoFit/>
          </a:bodyPr>
          <a:lstStyle/>
          <a:p>
            <a:pPr algn="ctr">
              <a:lnSpc>
                <a:spcPts val="3888"/>
              </a:lnSpc>
            </a:pPr>
            <a:r>
              <a:rPr lang="en-US" sz="3600">
                <a:solidFill>
                  <a:srgbClr val="0A3D82"/>
                </a:solidFill>
                <a:latin typeface="Glacial Indifference"/>
                <a:ea typeface="Glacial Indifference"/>
                <a:cs typeface="Glacial Indifference"/>
                <a:sym typeface="Glacial Indifference"/>
              </a:rPr>
              <a:t>Purwadhika School</a:t>
            </a:r>
          </a:p>
        </p:txBody>
      </p:sp>
      <p:sp>
        <p:nvSpPr>
          <p:cNvPr name="TextBox 9" id="9"/>
          <p:cNvSpPr txBox="true"/>
          <p:nvPr/>
        </p:nvSpPr>
        <p:spPr>
          <a:xfrm rot="0">
            <a:off x="13853523" y="7981576"/>
            <a:ext cx="2632323" cy="404622"/>
          </a:xfrm>
          <a:prstGeom prst="rect">
            <a:avLst/>
          </a:prstGeom>
        </p:spPr>
        <p:txBody>
          <a:bodyPr anchor="t" rtlCol="false" tIns="0" lIns="0" bIns="0" rIns="0">
            <a:spAutoFit/>
          </a:bodyPr>
          <a:lstStyle/>
          <a:p>
            <a:pPr algn="ctr">
              <a:lnSpc>
                <a:spcPts val="3023"/>
              </a:lnSpc>
              <a:spcBef>
                <a:spcPct val="0"/>
              </a:spcBef>
            </a:pPr>
            <a:r>
              <a:rPr lang="en-US" sz="2799">
                <a:solidFill>
                  <a:srgbClr val="000000"/>
                </a:solidFill>
                <a:latin typeface="Glacial Indifference"/>
                <a:ea typeface="Glacial Indifference"/>
                <a:cs typeface="Glacial Indifference"/>
                <a:sym typeface="Glacial Indifference"/>
              </a:rPr>
              <a:t>Tim Assignment 5</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A3D82"/>
        </a:solidFill>
      </p:bgPr>
    </p:bg>
    <p:spTree>
      <p:nvGrpSpPr>
        <p:cNvPr id="1" name=""/>
        <p:cNvGrpSpPr/>
        <p:nvPr/>
      </p:nvGrpSpPr>
      <p:grpSpPr>
        <a:xfrm>
          <a:off x="0" y="0"/>
          <a:ext cx="0" cy="0"/>
          <a:chOff x="0" y="0"/>
          <a:chExt cx="0" cy="0"/>
        </a:xfrm>
      </p:grpSpPr>
      <p:grpSp>
        <p:nvGrpSpPr>
          <p:cNvPr name="Group 2" id="2"/>
          <p:cNvGrpSpPr/>
          <p:nvPr/>
        </p:nvGrpSpPr>
        <p:grpSpPr>
          <a:xfrm rot="0">
            <a:off x="677386" y="733115"/>
            <a:ext cx="8206679" cy="3285466"/>
            <a:chOff x="0" y="0"/>
            <a:chExt cx="2161430" cy="865308"/>
          </a:xfrm>
        </p:grpSpPr>
        <p:sp>
          <p:nvSpPr>
            <p:cNvPr name="Freeform 3" id="3"/>
            <p:cNvSpPr/>
            <p:nvPr/>
          </p:nvSpPr>
          <p:spPr>
            <a:xfrm flipH="false" flipV="false" rot="0">
              <a:off x="0" y="0"/>
              <a:ext cx="2161430" cy="865308"/>
            </a:xfrm>
            <a:custGeom>
              <a:avLst/>
              <a:gdLst/>
              <a:ahLst/>
              <a:cxnLst/>
              <a:rect r="r" b="b" t="t" l="l"/>
              <a:pathLst>
                <a:path h="865308" w="2161430">
                  <a:moveTo>
                    <a:pt x="0" y="0"/>
                  </a:moveTo>
                  <a:lnTo>
                    <a:pt x="2161430" y="0"/>
                  </a:lnTo>
                  <a:lnTo>
                    <a:pt x="2161430" y="865308"/>
                  </a:lnTo>
                  <a:lnTo>
                    <a:pt x="0" y="865308"/>
                  </a:lnTo>
                  <a:close/>
                </a:path>
              </a:pathLst>
            </a:custGeom>
            <a:solidFill>
              <a:srgbClr val="F6FAFF"/>
            </a:solidFill>
          </p:spPr>
        </p:sp>
        <p:sp>
          <p:nvSpPr>
            <p:cNvPr name="TextBox 4" id="4"/>
            <p:cNvSpPr txBox="true"/>
            <p:nvPr/>
          </p:nvSpPr>
          <p:spPr>
            <a:xfrm>
              <a:off x="0" y="-38100"/>
              <a:ext cx="2161430" cy="903408"/>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4363940">
            <a:off x="13720571" y="1586867"/>
            <a:ext cx="10893107" cy="8796184"/>
          </a:xfrm>
          <a:custGeom>
            <a:avLst/>
            <a:gdLst/>
            <a:ahLst/>
            <a:cxnLst/>
            <a:rect r="r" b="b" t="t" l="l"/>
            <a:pathLst>
              <a:path h="8796184" w="10893107">
                <a:moveTo>
                  <a:pt x="0" y="0"/>
                </a:moveTo>
                <a:lnTo>
                  <a:pt x="10893107" y="0"/>
                </a:lnTo>
                <a:lnTo>
                  <a:pt x="10893107" y="8796184"/>
                </a:lnTo>
                <a:lnTo>
                  <a:pt x="0" y="87961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9144000" y="6850766"/>
            <a:ext cx="1546908" cy="638099"/>
          </a:xfrm>
          <a:custGeom>
            <a:avLst/>
            <a:gdLst/>
            <a:ahLst/>
            <a:cxnLst/>
            <a:rect r="r" b="b" t="t" l="l"/>
            <a:pathLst>
              <a:path h="638099" w="1546908">
                <a:moveTo>
                  <a:pt x="1546908" y="0"/>
                </a:moveTo>
                <a:lnTo>
                  <a:pt x="0" y="0"/>
                </a:lnTo>
                <a:lnTo>
                  <a:pt x="0" y="638100"/>
                </a:lnTo>
                <a:lnTo>
                  <a:pt x="1546908" y="638100"/>
                </a:lnTo>
                <a:lnTo>
                  <a:pt x="154690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28700" y="4789667"/>
            <a:ext cx="9478119" cy="2311994"/>
          </a:xfrm>
          <a:prstGeom prst="rect">
            <a:avLst/>
          </a:prstGeom>
        </p:spPr>
        <p:txBody>
          <a:bodyPr anchor="t" rtlCol="false" tIns="0" lIns="0" bIns="0" rIns="0">
            <a:spAutoFit/>
          </a:bodyPr>
          <a:lstStyle/>
          <a:p>
            <a:pPr algn="just" marL="907993" indent="-453996" lvl="1">
              <a:lnSpc>
                <a:spcPts val="4542"/>
              </a:lnSpc>
              <a:buFont typeface="Arial"/>
              <a:buChar char="•"/>
            </a:pPr>
            <a:r>
              <a:rPr lang="en-US" sz="4205">
                <a:solidFill>
                  <a:srgbClr val="F6FAFF"/>
                </a:solidFill>
                <a:latin typeface="Glacial Indifference"/>
                <a:ea typeface="Glacial Indifference"/>
                <a:cs typeface="Glacial Indifference"/>
                <a:sym typeface="Glacial Indifference"/>
              </a:rPr>
              <a:t>Problem &amp; Objective  </a:t>
            </a:r>
          </a:p>
          <a:p>
            <a:pPr algn="just" marL="907993" indent="-453996" lvl="1">
              <a:lnSpc>
                <a:spcPts val="4542"/>
              </a:lnSpc>
              <a:buFont typeface="Arial"/>
              <a:buChar char="•"/>
            </a:pPr>
            <a:r>
              <a:rPr lang="en-US" sz="4205">
                <a:solidFill>
                  <a:srgbClr val="F6FAFF"/>
                </a:solidFill>
                <a:latin typeface="Glacial Indifference"/>
                <a:ea typeface="Glacial Indifference"/>
                <a:cs typeface="Glacial Indifference"/>
                <a:sym typeface="Glacial Indifference"/>
              </a:rPr>
              <a:t>Data Overview, Findings &amp; Validation</a:t>
            </a:r>
          </a:p>
          <a:p>
            <a:pPr algn="just" marL="907993" indent="-453996" lvl="1">
              <a:lnSpc>
                <a:spcPts val="4542"/>
              </a:lnSpc>
              <a:buFont typeface="Arial"/>
              <a:buChar char="•"/>
            </a:pPr>
            <a:r>
              <a:rPr lang="en-US" sz="4205">
                <a:solidFill>
                  <a:srgbClr val="F6FAFF"/>
                </a:solidFill>
                <a:latin typeface="Glacial Indifference"/>
                <a:ea typeface="Glacial Indifference"/>
                <a:cs typeface="Glacial Indifference"/>
                <a:sym typeface="Glacial Indifference"/>
              </a:rPr>
              <a:t>Simulation  </a:t>
            </a:r>
          </a:p>
          <a:p>
            <a:pPr algn="just" marL="907993" indent="-453996" lvl="1">
              <a:lnSpc>
                <a:spcPts val="4542"/>
              </a:lnSpc>
              <a:buFont typeface="Arial"/>
              <a:buChar char="•"/>
            </a:pPr>
            <a:r>
              <a:rPr lang="en-US" sz="4205">
                <a:solidFill>
                  <a:srgbClr val="F6FAFF"/>
                </a:solidFill>
                <a:latin typeface="Glacial Indifference"/>
                <a:ea typeface="Glacial Indifference"/>
                <a:cs typeface="Glacial Indifference"/>
                <a:sym typeface="Glacial Indifference"/>
              </a:rPr>
              <a:t>Recommendation  </a:t>
            </a:r>
          </a:p>
        </p:txBody>
      </p:sp>
      <p:sp>
        <p:nvSpPr>
          <p:cNvPr name="TextBox 8" id="8"/>
          <p:cNvSpPr txBox="true"/>
          <p:nvPr/>
        </p:nvSpPr>
        <p:spPr>
          <a:xfrm rot="0">
            <a:off x="1744155" y="2482282"/>
            <a:ext cx="6073140" cy="1161040"/>
          </a:xfrm>
          <a:prstGeom prst="rect">
            <a:avLst/>
          </a:prstGeom>
        </p:spPr>
        <p:txBody>
          <a:bodyPr anchor="t" rtlCol="false" tIns="0" lIns="0" bIns="0" rIns="0">
            <a:spAutoFit/>
          </a:bodyPr>
          <a:lstStyle/>
          <a:p>
            <a:pPr algn="ctr">
              <a:lnSpc>
                <a:spcPts val="9505"/>
              </a:lnSpc>
            </a:pPr>
            <a:r>
              <a:rPr lang="en-US" sz="6789">
                <a:solidFill>
                  <a:srgbClr val="0A3D82"/>
                </a:solidFill>
                <a:latin typeface="League Spartan"/>
                <a:ea typeface="League Spartan"/>
                <a:cs typeface="League Spartan"/>
                <a:sym typeface="League Spartan"/>
              </a:rPr>
              <a:t>CONTENT</a:t>
            </a:r>
          </a:p>
        </p:txBody>
      </p:sp>
      <p:sp>
        <p:nvSpPr>
          <p:cNvPr name="TextBox 9" id="9"/>
          <p:cNvSpPr txBox="true"/>
          <p:nvPr/>
        </p:nvSpPr>
        <p:spPr>
          <a:xfrm rot="0">
            <a:off x="1744155" y="1503528"/>
            <a:ext cx="6073140" cy="986355"/>
          </a:xfrm>
          <a:prstGeom prst="rect">
            <a:avLst/>
          </a:prstGeom>
        </p:spPr>
        <p:txBody>
          <a:bodyPr anchor="t" rtlCol="false" tIns="0" lIns="0" bIns="0" rIns="0">
            <a:spAutoFit/>
          </a:bodyPr>
          <a:lstStyle/>
          <a:p>
            <a:pPr algn="ctr">
              <a:lnSpc>
                <a:spcPts val="7583"/>
              </a:lnSpc>
            </a:pPr>
            <a:r>
              <a:rPr lang="en-US" b="true" sz="5417">
                <a:solidFill>
                  <a:srgbClr val="004AAD"/>
                </a:solidFill>
                <a:latin typeface="Poppins Bold"/>
                <a:ea typeface="Poppins Bold"/>
                <a:cs typeface="Poppins Bold"/>
                <a:sym typeface="Poppins Bold"/>
              </a:rPr>
              <a:t>LISTS OF</a:t>
            </a:r>
          </a:p>
        </p:txBody>
      </p:sp>
      <p:sp>
        <p:nvSpPr>
          <p:cNvPr name="TextBox 10" id="10"/>
          <p:cNvSpPr txBox="true"/>
          <p:nvPr/>
        </p:nvSpPr>
        <p:spPr>
          <a:xfrm rot="0">
            <a:off x="331218" y="9614916"/>
            <a:ext cx="9360619" cy="672084"/>
          </a:xfrm>
          <a:prstGeom prst="rect">
            <a:avLst/>
          </a:prstGeom>
        </p:spPr>
        <p:txBody>
          <a:bodyPr anchor="t" rtlCol="false" tIns="0" lIns="0" bIns="0" rIns="0">
            <a:spAutoFit/>
          </a:bodyPr>
          <a:lstStyle/>
          <a:p>
            <a:pPr algn="just">
              <a:lnSpc>
                <a:spcPts val="1727"/>
              </a:lnSpc>
            </a:pPr>
            <a:r>
              <a:rPr lang="en-US" sz="1599">
                <a:solidFill>
                  <a:srgbClr val="FFFFFF"/>
                </a:solidFill>
                <a:latin typeface="Glacial Indifference"/>
                <a:ea typeface="Glacial Indifference"/>
                <a:cs typeface="Glacial Indifference"/>
                <a:sym typeface="Glacial Indifference"/>
              </a:rPr>
              <a:t>optimizing profitability and discount strategy</a:t>
            </a:r>
          </a:p>
          <a:p>
            <a:pPr algn="just">
              <a:lnSpc>
                <a:spcPts val="1727"/>
              </a:lnSpc>
            </a:pPr>
            <a:r>
              <a:rPr lang="en-US" sz="1599">
                <a:solidFill>
                  <a:srgbClr val="FFFFFF"/>
                </a:solidFill>
                <a:latin typeface="Glacial Indifference"/>
                <a:ea typeface="Glacial Indifference"/>
                <a:cs typeface="Glacial Indifference"/>
                <a:sym typeface="Glacial Indifference"/>
              </a:rPr>
              <a:t>using retail business analytics data - Dea &amp; Lauzia</a:t>
            </a:r>
          </a:p>
          <a:p>
            <a:pPr algn="just">
              <a:lnSpc>
                <a:spcPts val="1727"/>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6FAFF"/>
        </a:solidFill>
      </p:bgPr>
    </p:bg>
    <p:spTree>
      <p:nvGrpSpPr>
        <p:cNvPr id="1" name=""/>
        <p:cNvGrpSpPr/>
        <p:nvPr/>
      </p:nvGrpSpPr>
      <p:grpSpPr>
        <a:xfrm>
          <a:off x="0" y="0"/>
          <a:ext cx="0" cy="0"/>
          <a:chOff x="0" y="0"/>
          <a:chExt cx="0" cy="0"/>
        </a:xfrm>
      </p:grpSpPr>
      <p:grpSp>
        <p:nvGrpSpPr>
          <p:cNvPr name="Group 2" id="2"/>
          <p:cNvGrpSpPr/>
          <p:nvPr/>
        </p:nvGrpSpPr>
        <p:grpSpPr>
          <a:xfrm rot="0">
            <a:off x="230075" y="217177"/>
            <a:ext cx="16581914" cy="1060310"/>
            <a:chOff x="0" y="0"/>
            <a:chExt cx="4367253" cy="279259"/>
          </a:xfrm>
        </p:grpSpPr>
        <p:sp>
          <p:nvSpPr>
            <p:cNvPr name="Freeform 3" id="3"/>
            <p:cNvSpPr/>
            <p:nvPr/>
          </p:nvSpPr>
          <p:spPr>
            <a:xfrm flipH="false" flipV="false" rot="0">
              <a:off x="0" y="0"/>
              <a:ext cx="4367253" cy="279259"/>
            </a:xfrm>
            <a:custGeom>
              <a:avLst/>
              <a:gdLst/>
              <a:ahLst/>
              <a:cxnLst/>
              <a:rect r="r" b="b" t="t" l="l"/>
              <a:pathLst>
                <a:path h="279259" w="4367253">
                  <a:moveTo>
                    <a:pt x="0" y="0"/>
                  </a:moveTo>
                  <a:lnTo>
                    <a:pt x="4367253" y="0"/>
                  </a:lnTo>
                  <a:lnTo>
                    <a:pt x="4367253" y="279259"/>
                  </a:lnTo>
                  <a:lnTo>
                    <a:pt x="0" y="279259"/>
                  </a:lnTo>
                  <a:close/>
                </a:path>
              </a:pathLst>
            </a:custGeom>
            <a:solidFill>
              <a:srgbClr val="0A3D82"/>
            </a:solidFill>
          </p:spPr>
        </p:sp>
        <p:sp>
          <p:nvSpPr>
            <p:cNvPr name="TextBox 4" id="4"/>
            <p:cNvSpPr txBox="true"/>
            <p:nvPr/>
          </p:nvSpPr>
          <p:spPr>
            <a:xfrm>
              <a:off x="0" y="-38100"/>
              <a:ext cx="4367253" cy="317359"/>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5712392" y="2656680"/>
            <a:ext cx="1546908" cy="638099"/>
          </a:xfrm>
          <a:custGeom>
            <a:avLst/>
            <a:gdLst/>
            <a:ahLst/>
            <a:cxnLst/>
            <a:rect r="r" b="b" t="t" l="l"/>
            <a:pathLst>
              <a:path h="638099" w="1546908">
                <a:moveTo>
                  <a:pt x="0" y="0"/>
                </a:moveTo>
                <a:lnTo>
                  <a:pt x="1546908" y="0"/>
                </a:lnTo>
                <a:lnTo>
                  <a:pt x="1546908" y="638099"/>
                </a:lnTo>
                <a:lnTo>
                  <a:pt x="0" y="6380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589186" y="1960945"/>
            <a:ext cx="16581914" cy="2613025"/>
          </a:xfrm>
          <a:prstGeom prst="rect">
            <a:avLst/>
          </a:prstGeom>
        </p:spPr>
        <p:txBody>
          <a:bodyPr anchor="t" rtlCol="false" tIns="0" lIns="0" bIns="0" rIns="0">
            <a:spAutoFit/>
          </a:bodyPr>
          <a:lstStyle/>
          <a:p>
            <a:pPr algn="l">
              <a:lnSpc>
                <a:spcPts val="3499"/>
              </a:lnSpc>
            </a:pPr>
            <a:r>
              <a:rPr lang="en-US" sz="2499">
                <a:solidFill>
                  <a:srgbClr val="0A3D82"/>
                </a:solidFill>
                <a:latin typeface="Glacial Indifference"/>
                <a:ea typeface="Glacial Indifference"/>
                <a:cs typeface="Glacial Indifference"/>
                <a:sym typeface="Glacial Indifference"/>
              </a:rPr>
              <a:t>This project aims to analyze business performance using three key variables: Sales, Cost, Profit.  </a:t>
            </a:r>
          </a:p>
          <a:p>
            <a:pPr algn="l">
              <a:lnSpc>
                <a:spcPts val="3499"/>
              </a:lnSpc>
            </a:pPr>
            <a:r>
              <a:rPr lang="en-US" sz="2499">
                <a:solidFill>
                  <a:srgbClr val="0A3D82"/>
                </a:solidFill>
                <a:latin typeface="Glacial Indifference"/>
                <a:ea typeface="Glacial Indifference"/>
                <a:cs typeface="Glacial Indifference"/>
                <a:sym typeface="Glacial Indifference"/>
              </a:rPr>
              <a:t>The analysis focuses on understanding how revenue is generated, how sales and cost impact profitability, and which areas of the business are most efficient.</a:t>
            </a:r>
          </a:p>
          <a:p>
            <a:pPr algn="l">
              <a:lnSpc>
                <a:spcPts val="3499"/>
              </a:lnSpc>
            </a:pPr>
          </a:p>
          <a:p>
            <a:pPr algn="l">
              <a:lnSpc>
                <a:spcPts val="3499"/>
              </a:lnSpc>
            </a:pPr>
            <a:r>
              <a:rPr lang="en-US" sz="2499">
                <a:solidFill>
                  <a:srgbClr val="0A3D82"/>
                </a:solidFill>
                <a:latin typeface="Glacial Indifference"/>
                <a:ea typeface="Glacial Indifference"/>
                <a:cs typeface="Glacial Indifference"/>
                <a:sym typeface="Glacial Indifference"/>
              </a:rPr>
              <a:t>By exploring patterns, distributions, and relationships between variables, this project provides insights to support better business decision-making.</a:t>
            </a:r>
          </a:p>
        </p:txBody>
      </p:sp>
      <p:sp>
        <p:nvSpPr>
          <p:cNvPr name="TextBox 7" id="7"/>
          <p:cNvSpPr txBox="true"/>
          <p:nvPr/>
        </p:nvSpPr>
        <p:spPr>
          <a:xfrm rot="0">
            <a:off x="589186" y="5933825"/>
            <a:ext cx="15032279" cy="3051175"/>
          </a:xfrm>
          <a:prstGeom prst="rect">
            <a:avLst/>
          </a:prstGeom>
        </p:spPr>
        <p:txBody>
          <a:bodyPr anchor="t" rtlCol="false" tIns="0" lIns="0" bIns="0" rIns="0">
            <a:spAutoFit/>
          </a:bodyPr>
          <a:lstStyle/>
          <a:p>
            <a:pPr algn="l">
              <a:lnSpc>
                <a:spcPts val="3499"/>
              </a:lnSpc>
            </a:pPr>
            <a:r>
              <a:rPr lang="en-US" sz="2499">
                <a:solidFill>
                  <a:srgbClr val="0A3D82"/>
                </a:solidFill>
                <a:latin typeface="Glacial Indifference"/>
                <a:ea typeface="Glacial Indifference"/>
                <a:cs typeface="Glacial Indifference"/>
                <a:sym typeface="Glacial Indifference"/>
              </a:rPr>
              <a:t>The main objectives of this analysis are:</a:t>
            </a:r>
          </a:p>
          <a:p>
            <a:pPr algn="l">
              <a:lnSpc>
                <a:spcPts val="3499"/>
              </a:lnSpc>
            </a:pPr>
          </a:p>
          <a:p>
            <a:pPr algn="l">
              <a:lnSpc>
                <a:spcPts val="3499"/>
              </a:lnSpc>
            </a:pPr>
            <a:r>
              <a:rPr lang="en-US" sz="2499">
                <a:solidFill>
                  <a:srgbClr val="0A3D82"/>
                </a:solidFill>
                <a:latin typeface="Glacial Indifference"/>
                <a:ea typeface="Glacial Indifference"/>
                <a:cs typeface="Glacial Indifference"/>
                <a:sym typeface="Glacial Indifference"/>
              </a:rPr>
              <a:t>- Identify key drivers of profitability</a:t>
            </a:r>
          </a:p>
          <a:p>
            <a:pPr algn="l">
              <a:lnSpc>
                <a:spcPts val="3499"/>
              </a:lnSpc>
            </a:pPr>
            <a:r>
              <a:rPr lang="en-US" sz="2499">
                <a:solidFill>
                  <a:srgbClr val="0A3D82"/>
                </a:solidFill>
                <a:latin typeface="Glacial Indifference"/>
                <a:ea typeface="Glacial Indifference"/>
                <a:cs typeface="Glacial Indifference"/>
                <a:sym typeface="Glacial Indifference"/>
              </a:rPr>
              <a:t>- Evaluate impact of discount and cost on margin</a:t>
            </a:r>
          </a:p>
          <a:p>
            <a:pPr algn="l">
              <a:lnSpc>
                <a:spcPts val="3499"/>
              </a:lnSpc>
            </a:pPr>
            <a:r>
              <a:rPr lang="en-US" sz="2499">
                <a:solidFill>
                  <a:srgbClr val="0A3D82"/>
                </a:solidFill>
                <a:latin typeface="Glacial Indifference"/>
                <a:ea typeface="Glacial Indifference"/>
                <a:cs typeface="Glacial Indifference"/>
                <a:sym typeface="Glacial Indifference"/>
              </a:rPr>
              <a:t>- Validate whether category and region influence profit</a:t>
            </a:r>
          </a:p>
          <a:p>
            <a:pPr algn="l">
              <a:lnSpc>
                <a:spcPts val="3499"/>
              </a:lnSpc>
            </a:pPr>
            <a:r>
              <a:rPr lang="en-US" sz="2499">
                <a:solidFill>
                  <a:srgbClr val="0A3D82"/>
                </a:solidFill>
                <a:latin typeface="Glacial Indifference"/>
                <a:ea typeface="Glacial Indifference"/>
                <a:cs typeface="Glacial Indifference"/>
                <a:sym typeface="Glacial Indifference"/>
              </a:rPr>
              <a:t>- Test multiple strategies through simulation</a:t>
            </a:r>
          </a:p>
          <a:p>
            <a:pPr algn="l">
              <a:lnSpc>
                <a:spcPts val="3499"/>
              </a:lnSpc>
            </a:pPr>
            <a:r>
              <a:rPr lang="en-US" sz="2499">
                <a:solidFill>
                  <a:srgbClr val="0A3D82"/>
                </a:solidFill>
                <a:latin typeface="Glacial Indifference"/>
                <a:ea typeface="Glacial Indifference"/>
                <a:cs typeface="Glacial Indifference"/>
                <a:sym typeface="Glacial Indifference"/>
              </a:rPr>
              <a:t>- Provide data-driven business recommendations</a:t>
            </a:r>
          </a:p>
        </p:txBody>
      </p:sp>
      <p:sp>
        <p:nvSpPr>
          <p:cNvPr name="TextBox 8" id="8"/>
          <p:cNvSpPr txBox="true"/>
          <p:nvPr/>
        </p:nvSpPr>
        <p:spPr>
          <a:xfrm rot="0">
            <a:off x="589186" y="217901"/>
            <a:ext cx="9529338" cy="901700"/>
          </a:xfrm>
          <a:prstGeom prst="rect">
            <a:avLst/>
          </a:prstGeom>
        </p:spPr>
        <p:txBody>
          <a:bodyPr anchor="t" rtlCol="false" tIns="0" lIns="0" bIns="0" rIns="0">
            <a:spAutoFit/>
          </a:bodyPr>
          <a:lstStyle/>
          <a:p>
            <a:pPr algn="just">
              <a:lnSpc>
                <a:spcPts val="7000"/>
              </a:lnSpc>
            </a:pPr>
            <a:r>
              <a:rPr lang="en-US" b="true" sz="5000">
                <a:solidFill>
                  <a:srgbClr val="F6FAFF"/>
                </a:solidFill>
                <a:latin typeface="Poppins Bold"/>
                <a:ea typeface="Poppins Bold"/>
                <a:cs typeface="Poppins Bold"/>
                <a:sym typeface="Poppins Bold"/>
              </a:rPr>
              <a:t>PROBLEM AND OBJECTIVITIES</a:t>
            </a:r>
          </a:p>
        </p:txBody>
      </p:sp>
      <p:sp>
        <p:nvSpPr>
          <p:cNvPr name="TextBox 9" id="9"/>
          <p:cNvSpPr txBox="true"/>
          <p:nvPr/>
        </p:nvSpPr>
        <p:spPr>
          <a:xfrm rot="0">
            <a:off x="17259300" y="9220200"/>
            <a:ext cx="152400" cy="190500"/>
          </a:xfrm>
          <a:prstGeom prst="rect">
            <a:avLst/>
          </a:prstGeom>
        </p:spPr>
        <p:txBody>
          <a:bodyPr anchor="t" rtlCol="false" tIns="0" lIns="0" bIns="0" rIns="0" wrap="none">
            <a:spAutoFit/>
          </a:bodyPr>
          <a:lstStyle/>
          <a:p>
            <a:pPr algn="ctr">
              <a:lnSpc>
                <a:spcPts val="1679"/>
              </a:lnSpc>
              <a:spcBef>
                <a:spcPct val="0"/>
              </a:spcBef>
            </a:pPr>
            <a:r>
              <a:rPr lang="en-US" sz="1200">
                <a:solidFill>
                  <a:srgbClr val="000000"/>
                </a:solidFill>
                <a:latin typeface="Arimo"/>
                <a:ea typeface="Arimo"/>
                <a:cs typeface="Arimo"/>
                <a:sym typeface="Arimo"/>
              </a:rPr>
              <a:t>Halaman 3 dari 13</a:t>
            </a:r>
          </a:p>
        </p:txBody>
      </p:sp>
      <p:sp>
        <p:nvSpPr>
          <p:cNvPr name="Freeform 10" id="10"/>
          <p:cNvSpPr/>
          <p:nvPr/>
        </p:nvSpPr>
        <p:spPr>
          <a:xfrm flipH="false" flipV="false" rot="4363940">
            <a:off x="13720571" y="1586867"/>
            <a:ext cx="10893107" cy="8796184"/>
          </a:xfrm>
          <a:custGeom>
            <a:avLst/>
            <a:gdLst/>
            <a:ahLst/>
            <a:cxnLst/>
            <a:rect r="r" b="b" t="t" l="l"/>
            <a:pathLst>
              <a:path h="8796184" w="10893107">
                <a:moveTo>
                  <a:pt x="0" y="0"/>
                </a:moveTo>
                <a:lnTo>
                  <a:pt x="10893107" y="0"/>
                </a:lnTo>
                <a:lnTo>
                  <a:pt x="10893107" y="8796184"/>
                </a:lnTo>
                <a:lnTo>
                  <a:pt x="0" y="87961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589186" y="1503161"/>
            <a:ext cx="5400981" cy="349250"/>
          </a:xfrm>
          <a:prstGeom prst="rect">
            <a:avLst/>
          </a:prstGeom>
        </p:spPr>
        <p:txBody>
          <a:bodyPr anchor="t" rtlCol="false" tIns="0" lIns="0" bIns="0" rIns="0">
            <a:spAutoFit/>
          </a:bodyPr>
          <a:lstStyle/>
          <a:p>
            <a:pPr algn="l">
              <a:lnSpc>
                <a:spcPts val="2800"/>
              </a:lnSpc>
            </a:pPr>
            <a:r>
              <a:rPr lang="en-US" sz="2000">
                <a:solidFill>
                  <a:srgbClr val="0A3D82"/>
                </a:solidFill>
                <a:latin typeface="League Spartan"/>
                <a:ea typeface="League Spartan"/>
                <a:cs typeface="League Spartan"/>
                <a:sym typeface="League Spartan"/>
              </a:rPr>
              <a:t>PROJECT OVERVIEW</a:t>
            </a:r>
          </a:p>
        </p:txBody>
      </p:sp>
      <p:sp>
        <p:nvSpPr>
          <p:cNvPr name="TextBox 12" id="12"/>
          <p:cNvSpPr txBox="true"/>
          <p:nvPr/>
        </p:nvSpPr>
        <p:spPr>
          <a:xfrm rot="0">
            <a:off x="589186" y="5632200"/>
            <a:ext cx="5400981" cy="349250"/>
          </a:xfrm>
          <a:prstGeom prst="rect">
            <a:avLst/>
          </a:prstGeom>
        </p:spPr>
        <p:txBody>
          <a:bodyPr anchor="t" rtlCol="false" tIns="0" lIns="0" bIns="0" rIns="0">
            <a:spAutoFit/>
          </a:bodyPr>
          <a:lstStyle/>
          <a:p>
            <a:pPr algn="l">
              <a:lnSpc>
                <a:spcPts val="2800"/>
              </a:lnSpc>
            </a:pPr>
            <a:r>
              <a:rPr lang="en-US" sz="2000">
                <a:solidFill>
                  <a:srgbClr val="0A3D82"/>
                </a:solidFill>
                <a:latin typeface="League Spartan"/>
                <a:ea typeface="League Spartan"/>
                <a:cs typeface="League Spartan"/>
                <a:sym typeface="League Spartan"/>
              </a:rPr>
              <a:t>OBJECTIVITIES</a:t>
            </a:r>
          </a:p>
        </p:txBody>
      </p:sp>
      <p:sp>
        <p:nvSpPr>
          <p:cNvPr name="TextBox 13" id="13"/>
          <p:cNvSpPr txBox="true"/>
          <p:nvPr/>
        </p:nvSpPr>
        <p:spPr>
          <a:xfrm rot="0">
            <a:off x="331218" y="9614916"/>
            <a:ext cx="9360619" cy="672084"/>
          </a:xfrm>
          <a:prstGeom prst="rect">
            <a:avLst/>
          </a:prstGeom>
        </p:spPr>
        <p:txBody>
          <a:bodyPr anchor="t" rtlCol="false" tIns="0" lIns="0" bIns="0" rIns="0">
            <a:spAutoFit/>
          </a:bodyPr>
          <a:lstStyle/>
          <a:p>
            <a:pPr algn="just">
              <a:lnSpc>
                <a:spcPts val="1727"/>
              </a:lnSpc>
            </a:pPr>
            <a:r>
              <a:rPr lang="en-US" sz="1599">
                <a:solidFill>
                  <a:srgbClr val="004AAD"/>
                </a:solidFill>
                <a:latin typeface="Glacial Indifference"/>
                <a:ea typeface="Glacial Indifference"/>
                <a:cs typeface="Glacial Indifference"/>
                <a:sym typeface="Glacial Indifference"/>
              </a:rPr>
              <a:t>optimizing profitability and discount strategy</a:t>
            </a:r>
          </a:p>
          <a:p>
            <a:pPr algn="just">
              <a:lnSpc>
                <a:spcPts val="1727"/>
              </a:lnSpc>
            </a:pPr>
            <a:r>
              <a:rPr lang="en-US" sz="1599">
                <a:solidFill>
                  <a:srgbClr val="004AAD"/>
                </a:solidFill>
                <a:latin typeface="Glacial Indifference"/>
                <a:ea typeface="Glacial Indifference"/>
                <a:cs typeface="Glacial Indifference"/>
                <a:sym typeface="Glacial Indifference"/>
              </a:rPr>
              <a:t>using retail business analytics data - Dea &amp; Lauzia</a:t>
            </a:r>
          </a:p>
          <a:p>
            <a:pPr algn="just">
              <a:lnSpc>
                <a:spcPts val="1727"/>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6FAFF"/>
        </a:solidFill>
      </p:bgPr>
    </p:bg>
    <p:spTree>
      <p:nvGrpSpPr>
        <p:cNvPr id="1" name=""/>
        <p:cNvGrpSpPr/>
        <p:nvPr/>
      </p:nvGrpSpPr>
      <p:grpSpPr>
        <a:xfrm>
          <a:off x="0" y="0"/>
          <a:ext cx="0" cy="0"/>
          <a:chOff x="0" y="0"/>
          <a:chExt cx="0" cy="0"/>
        </a:xfrm>
      </p:grpSpPr>
      <p:grpSp>
        <p:nvGrpSpPr>
          <p:cNvPr name="Group 2" id="2"/>
          <p:cNvGrpSpPr/>
          <p:nvPr/>
        </p:nvGrpSpPr>
        <p:grpSpPr>
          <a:xfrm rot="0">
            <a:off x="230075" y="217177"/>
            <a:ext cx="16581914" cy="1060310"/>
            <a:chOff x="0" y="0"/>
            <a:chExt cx="4367253" cy="279259"/>
          </a:xfrm>
        </p:grpSpPr>
        <p:sp>
          <p:nvSpPr>
            <p:cNvPr name="Freeform 3" id="3"/>
            <p:cNvSpPr/>
            <p:nvPr/>
          </p:nvSpPr>
          <p:spPr>
            <a:xfrm flipH="false" flipV="false" rot="0">
              <a:off x="0" y="0"/>
              <a:ext cx="4367253" cy="279259"/>
            </a:xfrm>
            <a:custGeom>
              <a:avLst/>
              <a:gdLst/>
              <a:ahLst/>
              <a:cxnLst/>
              <a:rect r="r" b="b" t="t" l="l"/>
              <a:pathLst>
                <a:path h="279259" w="4367253">
                  <a:moveTo>
                    <a:pt x="0" y="0"/>
                  </a:moveTo>
                  <a:lnTo>
                    <a:pt x="4367253" y="0"/>
                  </a:lnTo>
                  <a:lnTo>
                    <a:pt x="4367253" y="279259"/>
                  </a:lnTo>
                  <a:lnTo>
                    <a:pt x="0" y="279259"/>
                  </a:lnTo>
                  <a:close/>
                </a:path>
              </a:pathLst>
            </a:custGeom>
            <a:solidFill>
              <a:srgbClr val="0A3D82"/>
            </a:solidFill>
          </p:spPr>
        </p:sp>
        <p:sp>
          <p:nvSpPr>
            <p:cNvPr name="TextBox 4" id="4"/>
            <p:cNvSpPr txBox="true"/>
            <p:nvPr/>
          </p:nvSpPr>
          <p:spPr>
            <a:xfrm>
              <a:off x="0" y="-38100"/>
              <a:ext cx="4367253" cy="317359"/>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5712392" y="2656680"/>
            <a:ext cx="1546908" cy="638099"/>
          </a:xfrm>
          <a:custGeom>
            <a:avLst/>
            <a:gdLst/>
            <a:ahLst/>
            <a:cxnLst/>
            <a:rect r="r" b="b" t="t" l="l"/>
            <a:pathLst>
              <a:path h="638099" w="1546908">
                <a:moveTo>
                  <a:pt x="0" y="0"/>
                </a:moveTo>
                <a:lnTo>
                  <a:pt x="1546908" y="0"/>
                </a:lnTo>
                <a:lnTo>
                  <a:pt x="1546908" y="638099"/>
                </a:lnTo>
                <a:lnTo>
                  <a:pt x="0" y="6380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589186" y="1960945"/>
            <a:ext cx="16581914" cy="860425"/>
          </a:xfrm>
          <a:prstGeom prst="rect">
            <a:avLst/>
          </a:prstGeom>
        </p:spPr>
        <p:txBody>
          <a:bodyPr anchor="t" rtlCol="false" tIns="0" lIns="0" bIns="0" rIns="0">
            <a:spAutoFit/>
          </a:bodyPr>
          <a:lstStyle/>
          <a:p>
            <a:pPr algn="l">
              <a:lnSpc>
                <a:spcPts val="3499"/>
              </a:lnSpc>
            </a:pPr>
            <a:r>
              <a:rPr lang="en-US" sz="2499">
                <a:solidFill>
                  <a:srgbClr val="0A3D82"/>
                </a:solidFill>
                <a:latin typeface="Glacial Indifference"/>
                <a:ea typeface="Glacial Indifference"/>
                <a:cs typeface="Glacial Indifference"/>
                <a:sym typeface="Glacial Indifference"/>
              </a:rPr>
              <a:t>This analysis focuses on understanding the factors affecting profitability (margin). The key variables used in this analysis are:</a:t>
            </a:r>
          </a:p>
        </p:txBody>
      </p:sp>
      <p:sp>
        <p:nvSpPr>
          <p:cNvPr name="TextBox 7" id="7"/>
          <p:cNvSpPr txBox="true"/>
          <p:nvPr/>
        </p:nvSpPr>
        <p:spPr>
          <a:xfrm rot="0">
            <a:off x="589186" y="6081395"/>
            <a:ext cx="15032279" cy="3489325"/>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0A3D82"/>
                </a:solidFill>
                <a:latin typeface="Glacial Indifference"/>
                <a:ea typeface="Glacial Indifference"/>
                <a:cs typeface="Glacial Indifference"/>
                <a:sym typeface="Glacial Indifference"/>
              </a:rPr>
              <a:t>Whether higher sales always lead to higher profit, or if margin efficiency plays a more critical role</a:t>
            </a:r>
          </a:p>
          <a:p>
            <a:pPr algn="l" marL="539749" indent="-269875" lvl="1">
              <a:lnSpc>
                <a:spcPts val="3499"/>
              </a:lnSpc>
              <a:buFont typeface="Arial"/>
              <a:buChar char="•"/>
            </a:pPr>
            <a:r>
              <a:rPr lang="en-US" sz="2499">
                <a:solidFill>
                  <a:srgbClr val="0A3D82"/>
                </a:solidFill>
                <a:latin typeface="Glacial Indifference"/>
                <a:ea typeface="Glacial Indifference"/>
                <a:cs typeface="Glacial Indifference"/>
                <a:sym typeface="Glacial Indifference"/>
              </a:rPr>
              <a:t>Whether product categories and regions significantly influence profitability, or if profit is driven by transaction-level dynamics</a:t>
            </a:r>
          </a:p>
          <a:p>
            <a:pPr algn="l" marL="539749" indent="-269875" lvl="1">
              <a:lnSpc>
                <a:spcPts val="3499"/>
              </a:lnSpc>
              <a:buFont typeface="Arial"/>
              <a:buChar char="•"/>
            </a:pPr>
            <a:r>
              <a:rPr lang="en-US" sz="2499">
                <a:solidFill>
                  <a:srgbClr val="0A3D82"/>
                </a:solidFill>
                <a:latin typeface="Glacial Indifference"/>
                <a:ea typeface="Glacial Indifference"/>
                <a:cs typeface="Glacial Indifference"/>
                <a:sym typeface="Glacial Indifference"/>
              </a:rPr>
              <a:t>The extent to which discount impacts margin and reduces profitability</a:t>
            </a:r>
          </a:p>
          <a:p>
            <a:pPr algn="l" marL="539749" indent="-269875" lvl="1">
              <a:lnSpc>
                <a:spcPts val="3499"/>
              </a:lnSpc>
              <a:buFont typeface="Arial"/>
              <a:buChar char="•"/>
            </a:pPr>
            <a:r>
              <a:rPr lang="en-US" sz="2499">
                <a:solidFill>
                  <a:srgbClr val="0A3D82"/>
                </a:solidFill>
                <a:latin typeface="Glacial Indifference"/>
                <a:ea typeface="Glacial Indifference"/>
                <a:cs typeface="Glacial Indifference"/>
                <a:sym typeface="Glacial Indifference"/>
              </a:rPr>
              <a:t>How cost contributes to inefficiency alongside discount</a:t>
            </a:r>
          </a:p>
          <a:p>
            <a:pPr algn="l" marL="539749" indent="-269875" lvl="1">
              <a:lnSpc>
                <a:spcPts val="3499"/>
              </a:lnSpc>
              <a:buFont typeface="Arial"/>
              <a:buChar char="•"/>
            </a:pPr>
            <a:r>
              <a:rPr lang="en-US" sz="2499">
                <a:solidFill>
                  <a:srgbClr val="0A3D82"/>
                </a:solidFill>
                <a:latin typeface="Glacial Indifference"/>
                <a:ea typeface="Glacial Indifference"/>
                <a:cs typeface="Glacial Indifference"/>
                <a:sym typeface="Glacial Indifference"/>
              </a:rPr>
              <a:t>The effectiveness of different discount strategies in improving profit through simulation</a:t>
            </a:r>
          </a:p>
          <a:p>
            <a:pPr algn="l" marL="539749" indent="-269875" lvl="1">
              <a:lnSpc>
                <a:spcPts val="3499"/>
              </a:lnSpc>
              <a:buFont typeface="Arial"/>
              <a:buChar char="•"/>
            </a:pPr>
            <a:r>
              <a:rPr lang="en-US" sz="2499">
                <a:solidFill>
                  <a:srgbClr val="0A3D82"/>
                </a:solidFill>
                <a:latin typeface="Glacial Indifference"/>
                <a:ea typeface="Glacial Indifference"/>
                <a:cs typeface="Glacial Indifference"/>
                <a:sym typeface="Glacial Indifference"/>
              </a:rPr>
              <a:t>These insights</a:t>
            </a:r>
            <a:r>
              <a:rPr lang="en-US" sz="2499">
                <a:solidFill>
                  <a:srgbClr val="0A3D82"/>
                </a:solidFill>
                <a:latin typeface="Glacial Indifference"/>
                <a:ea typeface="Glacial Indifference"/>
                <a:cs typeface="Glacial Indifference"/>
                <a:sym typeface="Glacial Indifference"/>
              </a:rPr>
              <a:t> will help identify opportunities to improve profitability and operational efficiency.</a:t>
            </a:r>
          </a:p>
          <a:p>
            <a:pPr algn="l">
              <a:lnSpc>
                <a:spcPts val="3499"/>
              </a:lnSpc>
            </a:pPr>
          </a:p>
        </p:txBody>
      </p:sp>
      <p:sp>
        <p:nvSpPr>
          <p:cNvPr name="TextBox 8" id="8"/>
          <p:cNvSpPr txBox="true"/>
          <p:nvPr/>
        </p:nvSpPr>
        <p:spPr>
          <a:xfrm rot="0">
            <a:off x="17259300" y="9220200"/>
            <a:ext cx="152400" cy="190500"/>
          </a:xfrm>
          <a:prstGeom prst="rect">
            <a:avLst/>
          </a:prstGeom>
        </p:spPr>
        <p:txBody>
          <a:bodyPr anchor="t" rtlCol="false" tIns="0" lIns="0" bIns="0" rIns="0" wrap="none">
            <a:spAutoFit/>
          </a:bodyPr>
          <a:lstStyle/>
          <a:p>
            <a:pPr algn="ctr">
              <a:lnSpc>
                <a:spcPts val="1679"/>
              </a:lnSpc>
              <a:spcBef>
                <a:spcPct val="0"/>
              </a:spcBef>
            </a:pPr>
            <a:r>
              <a:rPr lang="en-US" sz="1200">
                <a:solidFill>
                  <a:srgbClr val="000000"/>
                </a:solidFill>
                <a:latin typeface="Arimo"/>
                <a:ea typeface="Arimo"/>
                <a:cs typeface="Arimo"/>
                <a:sym typeface="Arimo"/>
              </a:rPr>
              <a:t>Halaman 4 dari 13</a:t>
            </a:r>
          </a:p>
        </p:txBody>
      </p:sp>
      <p:sp>
        <p:nvSpPr>
          <p:cNvPr name="Freeform 9" id="9"/>
          <p:cNvSpPr/>
          <p:nvPr/>
        </p:nvSpPr>
        <p:spPr>
          <a:xfrm flipH="false" flipV="false" rot="4363940">
            <a:off x="13720571" y="1586867"/>
            <a:ext cx="10893107" cy="8796184"/>
          </a:xfrm>
          <a:custGeom>
            <a:avLst/>
            <a:gdLst/>
            <a:ahLst/>
            <a:cxnLst/>
            <a:rect r="r" b="b" t="t" l="l"/>
            <a:pathLst>
              <a:path h="8796184" w="10893107">
                <a:moveTo>
                  <a:pt x="0" y="0"/>
                </a:moveTo>
                <a:lnTo>
                  <a:pt x="10893107" y="0"/>
                </a:lnTo>
                <a:lnTo>
                  <a:pt x="10893107" y="8796184"/>
                </a:lnTo>
                <a:lnTo>
                  <a:pt x="0" y="87961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aphicFrame>
        <p:nvGraphicFramePr>
          <p:cNvPr name="Object 10" id="10"/>
          <p:cNvGraphicFramePr/>
          <p:nvPr/>
        </p:nvGraphicFramePr>
        <p:xfrm>
          <a:off x="589186" y="2821370"/>
          <a:ext cx="5657850" cy="5029200"/>
        </p:xfrm>
        <a:graphic>
          <a:graphicData uri="http://schemas.openxmlformats.org/presentationml/2006/ole">
            <p:oleObj imgW="6781800" imgH="6159500" r:id="rId7" progId="Excel.Sheet.12" name="Worksheet">
              <p:embed/>
              <p:pic>
                <p:nvPicPr>
                  <p:cNvPr name="" id="0"/>
                  <p:cNvPicPr/>
                  <p:nvPr/>
                </p:nvPicPr>
                <p:blipFill>
                  <a:blip r:embed="rId6"/>
                  <a:stretch>
                    <a:fillRect/>
                  </a:stretch>
                </p:blipFill>
                <p:spPr>
                  <a:xfrm>
                    <a:off x="1270000" y="1270000"/>
                    <a:ext cx="1270000" cy="1270000"/>
                  </a:xfrm>
                  <a:prstGeom prst="rect"/>
                </p:spPr>
              </p:pic>
            </p:oleObj>
          </a:graphicData>
        </a:graphic>
      </p:graphicFrame>
      <p:sp>
        <p:nvSpPr>
          <p:cNvPr name="TextBox 11" id="11"/>
          <p:cNvSpPr txBox="true"/>
          <p:nvPr/>
        </p:nvSpPr>
        <p:spPr>
          <a:xfrm rot="0">
            <a:off x="589186" y="217901"/>
            <a:ext cx="9529338" cy="901700"/>
          </a:xfrm>
          <a:prstGeom prst="rect">
            <a:avLst/>
          </a:prstGeom>
        </p:spPr>
        <p:txBody>
          <a:bodyPr anchor="t" rtlCol="false" tIns="0" lIns="0" bIns="0" rIns="0">
            <a:spAutoFit/>
          </a:bodyPr>
          <a:lstStyle/>
          <a:p>
            <a:pPr algn="just">
              <a:lnSpc>
                <a:spcPts val="7000"/>
              </a:lnSpc>
            </a:pPr>
            <a:r>
              <a:rPr lang="en-US" b="true" sz="5000">
                <a:solidFill>
                  <a:srgbClr val="F6FAFF"/>
                </a:solidFill>
                <a:latin typeface="Poppins Bold"/>
                <a:ea typeface="Poppins Bold"/>
                <a:cs typeface="Poppins Bold"/>
                <a:sym typeface="Poppins Bold"/>
              </a:rPr>
              <a:t>PROBLEM AND OBJECTIVITIES</a:t>
            </a:r>
          </a:p>
        </p:txBody>
      </p:sp>
      <p:sp>
        <p:nvSpPr>
          <p:cNvPr name="TextBox 12" id="12"/>
          <p:cNvSpPr txBox="true"/>
          <p:nvPr/>
        </p:nvSpPr>
        <p:spPr>
          <a:xfrm rot="0">
            <a:off x="589186" y="1503161"/>
            <a:ext cx="5400981" cy="349250"/>
          </a:xfrm>
          <a:prstGeom prst="rect">
            <a:avLst/>
          </a:prstGeom>
        </p:spPr>
        <p:txBody>
          <a:bodyPr anchor="t" rtlCol="false" tIns="0" lIns="0" bIns="0" rIns="0">
            <a:spAutoFit/>
          </a:bodyPr>
          <a:lstStyle/>
          <a:p>
            <a:pPr algn="l">
              <a:lnSpc>
                <a:spcPts val="2800"/>
              </a:lnSpc>
            </a:pPr>
            <a:r>
              <a:rPr lang="en-US" sz="2000">
                <a:solidFill>
                  <a:srgbClr val="0A3D82"/>
                </a:solidFill>
                <a:latin typeface="League Spartan"/>
                <a:ea typeface="League Spartan"/>
                <a:cs typeface="League Spartan"/>
                <a:sym typeface="League Spartan"/>
              </a:rPr>
              <a:t>VARIABLE DEFINITION</a:t>
            </a:r>
          </a:p>
        </p:txBody>
      </p:sp>
      <p:sp>
        <p:nvSpPr>
          <p:cNvPr name="TextBox 13" id="13"/>
          <p:cNvSpPr txBox="true"/>
          <p:nvPr/>
        </p:nvSpPr>
        <p:spPr>
          <a:xfrm rot="0">
            <a:off x="589186" y="5779770"/>
            <a:ext cx="5400981" cy="349250"/>
          </a:xfrm>
          <a:prstGeom prst="rect">
            <a:avLst/>
          </a:prstGeom>
        </p:spPr>
        <p:txBody>
          <a:bodyPr anchor="t" rtlCol="false" tIns="0" lIns="0" bIns="0" rIns="0">
            <a:spAutoFit/>
          </a:bodyPr>
          <a:lstStyle/>
          <a:p>
            <a:pPr algn="l">
              <a:lnSpc>
                <a:spcPts val="2800"/>
              </a:lnSpc>
            </a:pPr>
            <a:r>
              <a:rPr lang="en-US" sz="2000">
                <a:solidFill>
                  <a:srgbClr val="0A3D82"/>
                </a:solidFill>
                <a:latin typeface="League Spartan"/>
                <a:ea typeface="League Spartan"/>
                <a:cs typeface="League Spartan"/>
                <a:sym typeface="League Spartan"/>
              </a:rPr>
              <a:t>EXPECTED INSIGHT</a:t>
            </a:r>
          </a:p>
        </p:txBody>
      </p:sp>
      <p:sp>
        <p:nvSpPr>
          <p:cNvPr name="TextBox 14" id="14"/>
          <p:cNvSpPr txBox="true"/>
          <p:nvPr/>
        </p:nvSpPr>
        <p:spPr>
          <a:xfrm rot="0">
            <a:off x="331218" y="9614916"/>
            <a:ext cx="9360619" cy="672084"/>
          </a:xfrm>
          <a:prstGeom prst="rect">
            <a:avLst/>
          </a:prstGeom>
        </p:spPr>
        <p:txBody>
          <a:bodyPr anchor="t" rtlCol="false" tIns="0" lIns="0" bIns="0" rIns="0">
            <a:spAutoFit/>
          </a:bodyPr>
          <a:lstStyle/>
          <a:p>
            <a:pPr algn="just">
              <a:lnSpc>
                <a:spcPts val="1727"/>
              </a:lnSpc>
            </a:pPr>
            <a:r>
              <a:rPr lang="en-US" sz="1599">
                <a:solidFill>
                  <a:srgbClr val="004AAD"/>
                </a:solidFill>
                <a:latin typeface="Glacial Indifference"/>
                <a:ea typeface="Glacial Indifference"/>
                <a:cs typeface="Glacial Indifference"/>
                <a:sym typeface="Glacial Indifference"/>
              </a:rPr>
              <a:t>optimizing profitability and discount strategy</a:t>
            </a:r>
          </a:p>
          <a:p>
            <a:pPr algn="just">
              <a:lnSpc>
                <a:spcPts val="1727"/>
              </a:lnSpc>
            </a:pPr>
            <a:r>
              <a:rPr lang="en-US" sz="1599">
                <a:solidFill>
                  <a:srgbClr val="004AAD"/>
                </a:solidFill>
                <a:latin typeface="Glacial Indifference"/>
                <a:ea typeface="Glacial Indifference"/>
                <a:cs typeface="Glacial Indifference"/>
                <a:sym typeface="Glacial Indifference"/>
              </a:rPr>
              <a:t>using retail business analytics data - Dea &amp; Lauzia</a:t>
            </a:r>
          </a:p>
          <a:p>
            <a:pPr algn="just">
              <a:lnSpc>
                <a:spcPts val="1727"/>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6FAFF"/>
        </a:solidFill>
      </p:bgPr>
    </p:bg>
    <p:spTree>
      <p:nvGrpSpPr>
        <p:cNvPr id="1" name=""/>
        <p:cNvGrpSpPr/>
        <p:nvPr/>
      </p:nvGrpSpPr>
      <p:grpSpPr>
        <a:xfrm>
          <a:off x="0" y="0"/>
          <a:ext cx="0" cy="0"/>
          <a:chOff x="0" y="0"/>
          <a:chExt cx="0" cy="0"/>
        </a:xfrm>
      </p:grpSpPr>
      <p:grpSp>
        <p:nvGrpSpPr>
          <p:cNvPr name="Group 2" id="2"/>
          <p:cNvGrpSpPr/>
          <p:nvPr/>
        </p:nvGrpSpPr>
        <p:grpSpPr>
          <a:xfrm rot="0">
            <a:off x="230075" y="217177"/>
            <a:ext cx="16581914" cy="1060310"/>
            <a:chOff x="0" y="0"/>
            <a:chExt cx="4367253" cy="279259"/>
          </a:xfrm>
        </p:grpSpPr>
        <p:sp>
          <p:nvSpPr>
            <p:cNvPr name="Freeform 3" id="3"/>
            <p:cNvSpPr/>
            <p:nvPr/>
          </p:nvSpPr>
          <p:spPr>
            <a:xfrm flipH="false" flipV="false" rot="0">
              <a:off x="0" y="0"/>
              <a:ext cx="4367253" cy="279259"/>
            </a:xfrm>
            <a:custGeom>
              <a:avLst/>
              <a:gdLst/>
              <a:ahLst/>
              <a:cxnLst/>
              <a:rect r="r" b="b" t="t" l="l"/>
              <a:pathLst>
                <a:path h="279259" w="4367253">
                  <a:moveTo>
                    <a:pt x="0" y="0"/>
                  </a:moveTo>
                  <a:lnTo>
                    <a:pt x="4367253" y="0"/>
                  </a:lnTo>
                  <a:lnTo>
                    <a:pt x="4367253" y="279259"/>
                  </a:lnTo>
                  <a:lnTo>
                    <a:pt x="0" y="279259"/>
                  </a:lnTo>
                  <a:close/>
                </a:path>
              </a:pathLst>
            </a:custGeom>
            <a:solidFill>
              <a:srgbClr val="0A3D82"/>
            </a:solidFill>
          </p:spPr>
        </p:sp>
        <p:sp>
          <p:nvSpPr>
            <p:cNvPr name="TextBox 4" id="4"/>
            <p:cNvSpPr txBox="true"/>
            <p:nvPr/>
          </p:nvSpPr>
          <p:spPr>
            <a:xfrm>
              <a:off x="0" y="-38100"/>
              <a:ext cx="4367253" cy="317359"/>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5712392" y="2656680"/>
            <a:ext cx="1546908" cy="638099"/>
          </a:xfrm>
          <a:custGeom>
            <a:avLst/>
            <a:gdLst/>
            <a:ahLst/>
            <a:cxnLst/>
            <a:rect r="r" b="b" t="t" l="l"/>
            <a:pathLst>
              <a:path h="638099" w="1546908">
                <a:moveTo>
                  <a:pt x="0" y="0"/>
                </a:moveTo>
                <a:lnTo>
                  <a:pt x="1546908" y="0"/>
                </a:lnTo>
                <a:lnTo>
                  <a:pt x="1546908" y="638099"/>
                </a:lnTo>
                <a:lnTo>
                  <a:pt x="0" y="6380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7259300" y="9220200"/>
            <a:ext cx="152400" cy="190500"/>
          </a:xfrm>
          <a:prstGeom prst="rect">
            <a:avLst/>
          </a:prstGeom>
        </p:spPr>
        <p:txBody>
          <a:bodyPr anchor="t" rtlCol="false" tIns="0" lIns="0" bIns="0" rIns="0" wrap="none">
            <a:spAutoFit/>
          </a:bodyPr>
          <a:lstStyle/>
          <a:p>
            <a:pPr algn="ctr">
              <a:lnSpc>
                <a:spcPts val="1679"/>
              </a:lnSpc>
              <a:spcBef>
                <a:spcPct val="0"/>
              </a:spcBef>
            </a:pPr>
            <a:r>
              <a:rPr lang="en-US" sz="1200">
                <a:solidFill>
                  <a:srgbClr val="000000"/>
                </a:solidFill>
                <a:latin typeface="Arimo"/>
                <a:ea typeface="Arimo"/>
                <a:cs typeface="Arimo"/>
                <a:sym typeface="Arimo"/>
              </a:rPr>
              <a:t>Halaman 5 dari 13</a:t>
            </a:r>
          </a:p>
        </p:txBody>
      </p:sp>
      <p:sp>
        <p:nvSpPr>
          <p:cNvPr name="Freeform 7" id="7"/>
          <p:cNvSpPr/>
          <p:nvPr/>
        </p:nvSpPr>
        <p:spPr>
          <a:xfrm flipH="false" flipV="false" rot="4363940">
            <a:off x="13720571" y="1586867"/>
            <a:ext cx="10893107" cy="8796184"/>
          </a:xfrm>
          <a:custGeom>
            <a:avLst/>
            <a:gdLst/>
            <a:ahLst/>
            <a:cxnLst/>
            <a:rect r="r" b="b" t="t" l="l"/>
            <a:pathLst>
              <a:path h="8796184" w="10893107">
                <a:moveTo>
                  <a:pt x="0" y="0"/>
                </a:moveTo>
                <a:lnTo>
                  <a:pt x="10893107" y="0"/>
                </a:lnTo>
                <a:lnTo>
                  <a:pt x="10893107" y="8796184"/>
                </a:lnTo>
                <a:lnTo>
                  <a:pt x="0" y="87961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aphicFrame>
        <p:nvGraphicFramePr>
          <p:cNvPr name="Object 8" id="8"/>
          <p:cNvGraphicFramePr/>
          <p:nvPr/>
        </p:nvGraphicFramePr>
        <p:xfrm>
          <a:off x="589186" y="2057400"/>
          <a:ext cx="9429750" cy="5657850"/>
        </p:xfrm>
        <a:graphic>
          <a:graphicData uri="http://schemas.openxmlformats.org/presentationml/2006/ole">
            <p:oleObj imgW="11315700" imgH="7543800" r:id="rId7" progId="Excel.Sheet.12" name="Worksheet">
              <p:embed/>
              <p:pic>
                <p:nvPicPr>
                  <p:cNvPr name="" id="0"/>
                  <p:cNvPicPr/>
                  <p:nvPr/>
                </p:nvPicPr>
                <p:blipFill>
                  <a:blip r:embed="rId6"/>
                  <a:stretch>
                    <a:fillRect/>
                  </a:stretch>
                </p:blipFill>
                <p:spPr>
                  <a:xfrm>
                    <a:off x="1270000" y="1270000"/>
                    <a:ext cx="1270000" cy="1270000"/>
                  </a:xfrm>
                  <a:prstGeom prst="rect"/>
                </p:spPr>
              </p:pic>
            </p:oleObj>
          </a:graphicData>
        </a:graphic>
      </p:graphicFrame>
      <p:sp>
        <p:nvSpPr>
          <p:cNvPr name="Freeform 9" id="9"/>
          <p:cNvSpPr/>
          <p:nvPr/>
        </p:nvSpPr>
        <p:spPr>
          <a:xfrm flipH="false" flipV="false" rot="0">
            <a:off x="9490117" y="2057400"/>
            <a:ext cx="4293722" cy="3421442"/>
          </a:xfrm>
          <a:custGeom>
            <a:avLst/>
            <a:gdLst/>
            <a:ahLst/>
            <a:cxnLst/>
            <a:rect r="r" b="b" t="t" l="l"/>
            <a:pathLst>
              <a:path h="3421442" w="4293722">
                <a:moveTo>
                  <a:pt x="0" y="0"/>
                </a:moveTo>
                <a:lnTo>
                  <a:pt x="4293721" y="0"/>
                </a:lnTo>
                <a:lnTo>
                  <a:pt x="4293721" y="3421442"/>
                </a:lnTo>
                <a:lnTo>
                  <a:pt x="0" y="3421442"/>
                </a:lnTo>
                <a:lnTo>
                  <a:pt x="0" y="0"/>
                </a:lnTo>
                <a:close/>
              </a:path>
            </a:pathLst>
          </a:custGeom>
          <a:blipFill>
            <a:blip r:embed="rId8"/>
            <a:stretch>
              <a:fillRect l="0" t="0" r="0" b="0"/>
            </a:stretch>
          </a:blipFill>
        </p:spPr>
      </p:sp>
      <p:sp>
        <p:nvSpPr>
          <p:cNvPr name="TextBox 10" id="10"/>
          <p:cNvSpPr txBox="true"/>
          <p:nvPr/>
        </p:nvSpPr>
        <p:spPr>
          <a:xfrm rot="0">
            <a:off x="589186" y="5210175"/>
            <a:ext cx="6515493" cy="2120900"/>
          </a:xfrm>
          <a:prstGeom prst="rect">
            <a:avLst/>
          </a:prstGeom>
        </p:spPr>
        <p:txBody>
          <a:bodyPr anchor="t" rtlCol="false" tIns="0" lIns="0" bIns="0" rIns="0">
            <a:spAutoFit/>
          </a:bodyPr>
          <a:lstStyle/>
          <a:p>
            <a:pPr algn="l">
              <a:lnSpc>
                <a:spcPts val="2800"/>
              </a:lnSpc>
            </a:pPr>
            <a:r>
              <a:rPr lang="en-US" sz="2000">
                <a:solidFill>
                  <a:srgbClr val="0A3D82"/>
                </a:solidFill>
                <a:latin typeface="Glacial Indifference"/>
                <a:ea typeface="Glacial Indifference"/>
                <a:cs typeface="Glacial Indifference"/>
                <a:sym typeface="Glacial Indifference"/>
              </a:rPr>
              <a:t>The average profit is 418.9, or approximately a 30% margin of sales, which is still relatively healthy but not yet optimal.</a:t>
            </a:r>
          </a:p>
          <a:p>
            <a:pPr algn="l">
              <a:lnSpc>
                <a:spcPts val="2800"/>
              </a:lnSpc>
            </a:pPr>
            <a:r>
              <a:rPr lang="en-US" sz="2000">
                <a:solidFill>
                  <a:srgbClr val="0A3D82"/>
                </a:solidFill>
                <a:latin typeface="Glacial Indifference"/>
                <a:ea typeface="Glacial Indifference"/>
                <a:cs typeface="Glacial Indifference"/>
                <a:sym typeface="Glacial Indifference"/>
              </a:rPr>
              <a:t>The median profit is 311.395, which is lower than the mean profit of 418.9, suggesting that most transactions generate profit below the average. It can be concluded that inefficiencies exist in a portion of the transactions.</a:t>
            </a:r>
          </a:p>
        </p:txBody>
      </p:sp>
      <p:sp>
        <p:nvSpPr>
          <p:cNvPr name="TextBox 11" id="11"/>
          <p:cNvSpPr txBox="true"/>
          <p:nvPr/>
        </p:nvSpPr>
        <p:spPr>
          <a:xfrm rot="0">
            <a:off x="589186" y="217901"/>
            <a:ext cx="9529338" cy="901700"/>
          </a:xfrm>
          <a:prstGeom prst="rect">
            <a:avLst/>
          </a:prstGeom>
        </p:spPr>
        <p:txBody>
          <a:bodyPr anchor="t" rtlCol="false" tIns="0" lIns="0" bIns="0" rIns="0">
            <a:spAutoFit/>
          </a:bodyPr>
          <a:lstStyle/>
          <a:p>
            <a:pPr algn="just">
              <a:lnSpc>
                <a:spcPts val="7000"/>
              </a:lnSpc>
            </a:pPr>
            <a:r>
              <a:rPr lang="en-US" b="true" sz="5000">
                <a:solidFill>
                  <a:srgbClr val="F6FAFF"/>
                </a:solidFill>
                <a:latin typeface="Poppins Bold"/>
                <a:ea typeface="Poppins Bold"/>
                <a:cs typeface="Poppins Bold"/>
                <a:sym typeface="Poppins Bold"/>
              </a:rPr>
              <a:t>DATA OVERVIEW</a:t>
            </a:r>
          </a:p>
        </p:txBody>
      </p:sp>
      <p:sp>
        <p:nvSpPr>
          <p:cNvPr name="TextBox 12" id="12"/>
          <p:cNvSpPr txBox="true"/>
          <p:nvPr/>
        </p:nvSpPr>
        <p:spPr>
          <a:xfrm rot="0">
            <a:off x="589186" y="1355725"/>
            <a:ext cx="6361697" cy="349250"/>
          </a:xfrm>
          <a:prstGeom prst="rect">
            <a:avLst/>
          </a:prstGeom>
        </p:spPr>
        <p:txBody>
          <a:bodyPr anchor="t" rtlCol="false" tIns="0" lIns="0" bIns="0" rIns="0">
            <a:spAutoFit/>
          </a:bodyPr>
          <a:lstStyle/>
          <a:p>
            <a:pPr algn="l">
              <a:lnSpc>
                <a:spcPts val="2800"/>
              </a:lnSpc>
            </a:pPr>
            <a:r>
              <a:rPr lang="en-US" sz="2000">
                <a:solidFill>
                  <a:srgbClr val="0A3D82"/>
                </a:solidFill>
                <a:latin typeface="League Spartan"/>
                <a:ea typeface="League Spartan"/>
                <a:cs typeface="League Spartan"/>
                <a:sym typeface="League Spartan"/>
              </a:rPr>
              <a:t>SALES, COST, DAN PROFIT OVERVIEW</a:t>
            </a:r>
          </a:p>
        </p:txBody>
      </p:sp>
      <p:sp>
        <p:nvSpPr>
          <p:cNvPr name="TextBox 13" id="13"/>
          <p:cNvSpPr txBox="true"/>
          <p:nvPr/>
        </p:nvSpPr>
        <p:spPr>
          <a:xfrm rot="0">
            <a:off x="7807731" y="5563101"/>
            <a:ext cx="7658493" cy="3530600"/>
          </a:xfrm>
          <a:prstGeom prst="rect">
            <a:avLst/>
          </a:prstGeom>
        </p:spPr>
        <p:txBody>
          <a:bodyPr anchor="t" rtlCol="false" tIns="0" lIns="0" bIns="0" rIns="0">
            <a:spAutoFit/>
          </a:bodyPr>
          <a:lstStyle/>
          <a:p>
            <a:pPr algn="l">
              <a:lnSpc>
                <a:spcPts val="2800"/>
              </a:lnSpc>
            </a:pPr>
            <a:r>
              <a:rPr lang="en-US" sz="2000">
                <a:solidFill>
                  <a:srgbClr val="0A3D82"/>
                </a:solidFill>
                <a:latin typeface="Glacial Indifference"/>
                <a:ea typeface="Glacial Indifference"/>
                <a:cs typeface="Glacial Indifference"/>
                <a:sym typeface="Glacial Indifference"/>
              </a:rPr>
              <a:t>- The distribution of sales, cost, and profit is right-skewed, indicating that most transactions are small, with a few high-value transactions.</a:t>
            </a:r>
          </a:p>
          <a:p>
            <a:pPr algn="l">
              <a:lnSpc>
                <a:spcPts val="2800"/>
              </a:lnSpc>
            </a:pPr>
            <a:r>
              <a:rPr lang="en-US" sz="2000">
                <a:solidFill>
                  <a:srgbClr val="0A3D82"/>
                </a:solidFill>
                <a:latin typeface="Glacial Indifference"/>
                <a:ea typeface="Glacial Indifference"/>
                <a:cs typeface="Glacial Indifference"/>
                <a:sym typeface="Glacial Indifference"/>
              </a:rPr>
              <a:t>- Sales values are significantly higher than cost and profit, confirming expect</a:t>
            </a:r>
            <a:r>
              <a:rPr lang="en-US" sz="2000">
                <a:solidFill>
                  <a:srgbClr val="0A3D82"/>
                </a:solidFill>
                <a:latin typeface="Glacial Indifference"/>
                <a:ea typeface="Glacial Indifference"/>
                <a:cs typeface="Glacial Indifference"/>
                <a:sym typeface="Glacial Indifference"/>
              </a:rPr>
              <a:t>ed business structure.</a:t>
            </a:r>
          </a:p>
          <a:p>
            <a:pPr algn="l">
              <a:lnSpc>
                <a:spcPts val="2800"/>
              </a:lnSpc>
            </a:pPr>
            <a:r>
              <a:rPr lang="en-US" sz="2000">
                <a:solidFill>
                  <a:srgbClr val="0A3D82"/>
                </a:solidFill>
                <a:latin typeface="Glacial Indifference"/>
                <a:ea typeface="Glacial Indifference"/>
                <a:cs typeface="Glacial Indifference"/>
                <a:sym typeface="Glacial Indifference"/>
              </a:rPr>
              <a:t>- Profit distribution is more concentrated at lower values, suggesting relatively low profit margins.</a:t>
            </a:r>
          </a:p>
          <a:p>
            <a:pPr algn="l">
              <a:lnSpc>
                <a:spcPts val="2800"/>
              </a:lnSpc>
            </a:pPr>
            <a:r>
              <a:rPr lang="en-US" sz="2000">
                <a:solidFill>
                  <a:srgbClr val="0A3D82"/>
                </a:solidFill>
                <a:latin typeface="Glacial Indifference"/>
                <a:ea typeface="Glacial Indifference"/>
                <a:cs typeface="Glacial Indifference"/>
                <a:sym typeface="Glacial Indifference"/>
              </a:rPr>
              <a:t>- The presence of high sales values does not necessarily correspond to equally high profit, indicating potential inefficiencies or high costs.</a:t>
            </a:r>
          </a:p>
          <a:p>
            <a:pPr algn="l">
              <a:lnSpc>
                <a:spcPts val="2800"/>
              </a:lnSpc>
            </a:pPr>
            <a:r>
              <a:rPr lang="en-US" sz="2000">
                <a:solidFill>
                  <a:srgbClr val="0A3D82"/>
                </a:solidFill>
                <a:latin typeface="Glacial Indifference"/>
                <a:ea typeface="Glacial Indifference"/>
                <a:cs typeface="Glacial Indifference"/>
                <a:sym typeface="Glacial Indifference"/>
              </a:rPr>
              <a:t>- Overall, the business appears to rely on volume rather than high-margin transactions.</a:t>
            </a:r>
          </a:p>
        </p:txBody>
      </p:sp>
      <p:sp>
        <p:nvSpPr>
          <p:cNvPr name="TextBox 14" id="14"/>
          <p:cNvSpPr txBox="true"/>
          <p:nvPr/>
        </p:nvSpPr>
        <p:spPr>
          <a:xfrm rot="0">
            <a:off x="331218" y="9614916"/>
            <a:ext cx="9360619" cy="672084"/>
          </a:xfrm>
          <a:prstGeom prst="rect">
            <a:avLst/>
          </a:prstGeom>
        </p:spPr>
        <p:txBody>
          <a:bodyPr anchor="t" rtlCol="false" tIns="0" lIns="0" bIns="0" rIns="0">
            <a:spAutoFit/>
          </a:bodyPr>
          <a:lstStyle/>
          <a:p>
            <a:pPr algn="just">
              <a:lnSpc>
                <a:spcPts val="1727"/>
              </a:lnSpc>
            </a:pPr>
            <a:r>
              <a:rPr lang="en-US" sz="1599">
                <a:solidFill>
                  <a:srgbClr val="004AAD"/>
                </a:solidFill>
                <a:latin typeface="Glacial Indifference"/>
                <a:ea typeface="Glacial Indifference"/>
                <a:cs typeface="Glacial Indifference"/>
                <a:sym typeface="Glacial Indifference"/>
              </a:rPr>
              <a:t>optimizing profitability and discount strategy</a:t>
            </a:r>
          </a:p>
          <a:p>
            <a:pPr algn="just">
              <a:lnSpc>
                <a:spcPts val="1727"/>
              </a:lnSpc>
            </a:pPr>
            <a:r>
              <a:rPr lang="en-US" sz="1599">
                <a:solidFill>
                  <a:srgbClr val="004AAD"/>
                </a:solidFill>
                <a:latin typeface="Glacial Indifference"/>
                <a:ea typeface="Glacial Indifference"/>
                <a:cs typeface="Glacial Indifference"/>
                <a:sym typeface="Glacial Indifference"/>
              </a:rPr>
              <a:t>using retail business analytics data - Dea &amp; Lauzia</a:t>
            </a:r>
          </a:p>
          <a:p>
            <a:pPr algn="just">
              <a:lnSpc>
                <a:spcPts val="1727"/>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6FAFF"/>
        </a:solidFill>
      </p:bgPr>
    </p:bg>
    <p:spTree>
      <p:nvGrpSpPr>
        <p:cNvPr id="1" name=""/>
        <p:cNvGrpSpPr/>
        <p:nvPr/>
      </p:nvGrpSpPr>
      <p:grpSpPr>
        <a:xfrm>
          <a:off x="0" y="0"/>
          <a:ext cx="0" cy="0"/>
          <a:chOff x="0" y="0"/>
          <a:chExt cx="0" cy="0"/>
        </a:xfrm>
      </p:grpSpPr>
      <p:grpSp>
        <p:nvGrpSpPr>
          <p:cNvPr name="Group 2" id="2"/>
          <p:cNvGrpSpPr/>
          <p:nvPr/>
        </p:nvGrpSpPr>
        <p:grpSpPr>
          <a:xfrm rot="0">
            <a:off x="230075" y="217177"/>
            <a:ext cx="16581914" cy="1060310"/>
            <a:chOff x="0" y="0"/>
            <a:chExt cx="4367253" cy="279259"/>
          </a:xfrm>
        </p:grpSpPr>
        <p:sp>
          <p:nvSpPr>
            <p:cNvPr name="Freeform 3" id="3"/>
            <p:cNvSpPr/>
            <p:nvPr/>
          </p:nvSpPr>
          <p:spPr>
            <a:xfrm flipH="false" flipV="false" rot="0">
              <a:off x="0" y="0"/>
              <a:ext cx="4367253" cy="279259"/>
            </a:xfrm>
            <a:custGeom>
              <a:avLst/>
              <a:gdLst/>
              <a:ahLst/>
              <a:cxnLst/>
              <a:rect r="r" b="b" t="t" l="l"/>
              <a:pathLst>
                <a:path h="279259" w="4367253">
                  <a:moveTo>
                    <a:pt x="0" y="0"/>
                  </a:moveTo>
                  <a:lnTo>
                    <a:pt x="4367253" y="0"/>
                  </a:lnTo>
                  <a:lnTo>
                    <a:pt x="4367253" y="279259"/>
                  </a:lnTo>
                  <a:lnTo>
                    <a:pt x="0" y="279259"/>
                  </a:lnTo>
                  <a:close/>
                </a:path>
              </a:pathLst>
            </a:custGeom>
            <a:solidFill>
              <a:srgbClr val="0A3D82"/>
            </a:solidFill>
          </p:spPr>
        </p:sp>
        <p:sp>
          <p:nvSpPr>
            <p:cNvPr name="TextBox 4" id="4"/>
            <p:cNvSpPr txBox="true"/>
            <p:nvPr/>
          </p:nvSpPr>
          <p:spPr>
            <a:xfrm>
              <a:off x="0" y="-38100"/>
              <a:ext cx="4367253" cy="317359"/>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5712392" y="2656680"/>
            <a:ext cx="1546908" cy="638099"/>
          </a:xfrm>
          <a:custGeom>
            <a:avLst/>
            <a:gdLst/>
            <a:ahLst/>
            <a:cxnLst/>
            <a:rect r="r" b="b" t="t" l="l"/>
            <a:pathLst>
              <a:path h="638099" w="1546908">
                <a:moveTo>
                  <a:pt x="0" y="0"/>
                </a:moveTo>
                <a:lnTo>
                  <a:pt x="1546908" y="0"/>
                </a:lnTo>
                <a:lnTo>
                  <a:pt x="1546908" y="638099"/>
                </a:lnTo>
                <a:lnTo>
                  <a:pt x="0" y="6380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7259300" y="9220200"/>
            <a:ext cx="152400" cy="190500"/>
          </a:xfrm>
          <a:prstGeom prst="rect">
            <a:avLst/>
          </a:prstGeom>
        </p:spPr>
        <p:txBody>
          <a:bodyPr anchor="t" rtlCol="false" tIns="0" lIns="0" bIns="0" rIns="0" wrap="none">
            <a:spAutoFit/>
          </a:bodyPr>
          <a:lstStyle/>
          <a:p>
            <a:pPr algn="ctr">
              <a:lnSpc>
                <a:spcPts val="1679"/>
              </a:lnSpc>
              <a:spcBef>
                <a:spcPct val="0"/>
              </a:spcBef>
            </a:pPr>
            <a:r>
              <a:rPr lang="en-US" sz="1200">
                <a:solidFill>
                  <a:srgbClr val="000000"/>
                </a:solidFill>
                <a:latin typeface="Arimo"/>
                <a:ea typeface="Arimo"/>
                <a:cs typeface="Arimo"/>
                <a:sym typeface="Arimo"/>
              </a:rPr>
              <a:t>Halaman 6 dari 13</a:t>
            </a:r>
          </a:p>
        </p:txBody>
      </p:sp>
      <p:sp>
        <p:nvSpPr>
          <p:cNvPr name="Freeform 7" id="7"/>
          <p:cNvSpPr/>
          <p:nvPr/>
        </p:nvSpPr>
        <p:spPr>
          <a:xfrm flipH="false" flipV="false" rot="4363940">
            <a:off x="13720571" y="1586867"/>
            <a:ext cx="10893107" cy="8796184"/>
          </a:xfrm>
          <a:custGeom>
            <a:avLst/>
            <a:gdLst/>
            <a:ahLst/>
            <a:cxnLst/>
            <a:rect r="r" b="b" t="t" l="l"/>
            <a:pathLst>
              <a:path h="8796184" w="10893107">
                <a:moveTo>
                  <a:pt x="0" y="0"/>
                </a:moveTo>
                <a:lnTo>
                  <a:pt x="10893107" y="0"/>
                </a:lnTo>
                <a:lnTo>
                  <a:pt x="10893107" y="8796184"/>
                </a:lnTo>
                <a:lnTo>
                  <a:pt x="0" y="87961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589186" y="1897462"/>
            <a:ext cx="3752056" cy="2794634"/>
          </a:xfrm>
          <a:custGeom>
            <a:avLst/>
            <a:gdLst/>
            <a:ahLst/>
            <a:cxnLst/>
            <a:rect r="r" b="b" t="t" l="l"/>
            <a:pathLst>
              <a:path h="2794634" w="3752056">
                <a:moveTo>
                  <a:pt x="0" y="0"/>
                </a:moveTo>
                <a:lnTo>
                  <a:pt x="3752055" y="0"/>
                </a:lnTo>
                <a:lnTo>
                  <a:pt x="3752055" y="2794634"/>
                </a:lnTo>
                <a:lnTo>
                  <a:pt x="0" y="2794634"/>
                </a:lnTo>
                <a:lnTo>
                  <a:pt x="0" y="0"/>
                </a:lnTo>
                <a:close/>
              </a:path>
            </a:pathLst>
          </a:custGeom>
          <a:blipFill>
            <a:blip r:embed="rId6"/>
            <a:stretch>
              <a:fillRect l="0" t="0" r="0" b="0"/>
            </a:stretch>
          </a:blipFill>
        </p:spPr>
      </p:sp>
      <p:sp>
        <p:nvSpPr>
          <p:cNvPr name="Freeform 9" id="9"/>
          <p:cNvSpPr/>
          <p:nvPr/>
        </p:nvSpPr>
        <p:spPr>
          <a:xfrm flipH="false" flipV="false" rot="0">
            <a:off x="8548899" y="1897462"/>
            <a:ext cx="3752056" cy="2794634"/>
          </a:xfrm>
          <a:custGeom>
            <a:avLst/>
            <a:gdLst/>
            <a:ahLst/>
            <a:cxnLst/>
            <a:rect r="r" b="b" t="t" l="l"/>
            <a:pathLst>
              <a:path h="2794634" w="3752056">
                <a:moveTo>
                  <a:pt x="0" y="0"/>
                </a:moveTo>
                <a:lnTo>
                  <a:pt x="3752055" y="0"/>
                </a:lnTo>
                <a:lnTo>
                  <a:pt x="3752055" y="2794634"/>
                </a:lnTo>
                <a:lnTo>
                  <a:pt x="0" y="2794634"/>
                </a:lnTo>
                <a:lnTo>
                  <a:pt x="0" y="0"/>
                </a:lnTo>
                <a:close/>
              </a:path>
            </a:pathLst>
          </a:custGeom>
          <a:blipFill>
            <a:blip r:embed="rId7"/>
            <a:stretch>
              <a:fillRect l="0" t="0" r="0" b="0"/>
            </a:stretch>
          </a:blipFill>
        </p:spPr>
      </p:sp>
      <p:sp>
        <p:nvSpPr>
          <p:cNvPr name="Freeform 10" id="10"/>
          <p:cNvSpPr/>
          <p:nvPr/>
        </p:nvSpPr>
        <p:spPr>
          <a:xfrm flipH="false" flipV="false" rot="0">
            <a:off x="12634329" y="1897462"/>
            <a:ext cx="3752056" cy="2794634"/>
          </a:xfrm>
          <a:custGeom>
            <a:avLst/>
            <a:gdLst/>
            <a:ahLst/>
            <a:cxnLst/>
            <a:rect r="r" b="b" t="t" l="l"/>
            <a:pathLst>
              <a:path h="2794634" w="3752056">
                <a:moveTo>
                  <a:pt x="0" y="0"/>
                </a:moveTo>
                <a:lnTo>
                  <a:pt x="3752056" y="0"/>
                </a:lnTo>
                <a:lnTo>
                  <a:pt x="3752056" y="2794634"/>
                </a:lnTo>
                <a:lnTo>
                  <a:pt x="0" y="2794634"/>
                </a:lnTo>
                <a:lnTo>
                  <a:pt x="0" y="0"/>
                </a:lnTo>
                <a:close/>
              </a:path>
            </a:pathLst>
          </a:custGeom>
          <a:blipFill>
            <a:blip r:embed="rId8"/>
            <a:stretch>
              <a:fillRect l="0" t="0" r="0" b="0"/>
            </a:stretch>
          </a:blipFill>
        </p:spPr>
      </p:sp>
      <p:graphicFrame>
        <p:nvGraphicFramePr>
          <p:cNvPr name="Object 11" id="11"/>
          <p:cNvGraphicFramePr/>
          <p:nvPr/>
        </p:nvGraphicFramePr>
        <p:xfrm>
          <a:off x="4679011" y="1828800"/>
          <a:ext cx="3771900" cy="5657850"/>
        </p:xfrm>
        <a:graphic>
          <a:graphicData uri="http://schemas.openxmlformats.org/presentationml/2006/ole">
            <p:oleObj imgW="4902200" imgH="6781800" r:id="rId10" progId="Excel.Sheet.12" name="Worksheet">
              <p:embed/>
              <p:pic>
                <p:nvPicPr>
                  <p:cNvPr name="" id="0"/>
                  <p:cNvPicPr/>
                  <p:nvPr/>
                </p:nvPicPr>
                <p:blipFill>
                  <a:blip r:embed="rId9"/>
                  <a:stretch>
                    <a:fillRect/>
                  </a:stretch>
                </p:blipFill>
                <p:spPr>
                  <a:xfrm>
                    <a:off x="1270000" y="1270000"/>
                    <a:ext cx="1270000" cy="1270000"/>
                  </a:xfrm>
                  <a:prstGeom prst="rect"/>
                </p:spPr>
              </p:pic>
            </p:oleObj>
          </a:graphicData>
        </a:graphic>
      </p:graphicFrame>
      <p:sp>
        <p:nvSpPr>
          <p:cNvPr name="TextBox 12" id="12"/>
          <p:cNvSpPr txBox="true"/>
          <p:nvPr/>
        </p:nvSpPr>
        <p:spPr>
          <a:xfrm rot="0">
            <a:off x="589186" y="5367264"/>
            <a:ext cx="3752056" cy="608921"/>
          </a:xfrm>
          <a:prstGeom prst="rect">
            <a:avLst/>
          </a:prstGeom>
        </p:spPr>
        <p:txBody>
          <a:bodyPr anchor="t" rtlCol="false" tIns="0" lIns="0" bIns="0" rIns="0">
            <a:spAutoFit/>
          </a:bodyPr>
          <a:lstStyle/>
          <a:p>
            <a:pPr algn="just">
              <a:lnSpc>
                <a:spcPts val="1612"/>
              </a:lnSpc>
            </a:pPr>
            <a:r>
              <a:rPr lang="en-US" sz="1151">
                <a:solidFill>
                  <a:srgbClr val="0A3D82"/>
                </a:solidFill>
                <a:latin typeface="Glacial Indifference"/>
                <a:ea typeface="Glacial Indifference"/>
                <a:cs typeface="Glacial Indifference"/>
                <a:sym typeface="Glacial Indifference"/>
              </a:rPr>
              <a:t>Sales vs Profit, higher sales tend to</a:t>
            </a:r>
            <a:r>
              <a:rPr lang="en-US" sz="1151">
                <a:solidFill>
                  <a:srgbClr val="0A3D82"/>
                </a:solidFill>
                <a:latin typeface="Glacial Indifference"/>
                <a:ea typeface="Glacial Indifference"/>
                <a:cs typeface="Glacial Indifference"/>
                <a:sym typeface="Glacial Indifference"/>
              </a:rPr>
              <a:t> generate higher profit. However, this is not always efficient. The differences in profit are driven by variations in margin.</a:t>
            </a:r>
          </a:p>
        </p:txBody>
      </p:sp>
      <p:sp>
        <p:nvSpPr>
          <p:cNvPr name="TextBox 13" id="13"/>
          <p:cNvSpPr txBox="true"/>
          <p:nvPr/>
        </p:nvSpPr>
        <p:spPr>
          <a:xfrm rot="0">
            <a:off x="589186" y="217901"/>
            <a:ext cx="9529338" cy="901700"/>
          </a:xfrm>
          <a:prstGeom prst="rect">
            <a:avLst/>
          </a:prstGeom>
        </p:spPr>
        <p:txBody>
          <a:bodyPr anchor="t" rtlCol="false" tIns="0" lIns="0" bIns="0" rIns="0">
            <a:spAutoFit/>
          </a:bodyPr>
          <a:lstStyle/>
          <a:p>
            <a:pPr algn="just">
              <a:lnSpc>
                <a:spcPts val="7000"/>
              </a:lnSpc>
            </a:pPr>
            <a:r>
              <a:rPr lang="en-US" b="true" sz="5000">
                <a:solidFill>
                  <a:srgbClr val="F6FAFF"/>
                </a:solidFill>
                <a:latin typeface="Poppins Bold"/>
                <a:ea typeface="Poppins Bold"/>
                <a:cs typeface="Poppins Bold"/>
                <a:sym typeface="Poppins Bold"/>
              </a:rPr>
              <a:t>DATA OVERVIEW</a:t>
            </a:r>
          </a:p>
        </p:txBody>
      </p:sp>
      <p:sp>
        <p:nvSpPr>
          <p:cNvPr name="TextBox 14" id="14"/>
          <p:cNvSpPr txBox="true"/>
          <p:nvPr/>
        </p:nvSpPr>
        <p:spPr>
          <a:xfrm rot="0">
            <a:off x="589186" y="1355725"/>
            <a:ext cx="8214643" cy="349250"/>
          </a:xfrm>
          <a:prstGeom prst="rect">
            <a:avLst/>
          </a:prstGeom>
        </p:spPr>
        <p:txBody>
          <a:bodyPr anchor="t" rtlCol="false" tIns="0" lIns="0" bIns="0" rIns="0">
            <a:spAutoFit/>
          </a:bodyPr>
          <a:lstStyle/>
          <a:p>
            <a:pPr algn="l">
              <a:lnSpc>
                <a:spcPts val="2800"/>
              </a:lnSpc>
            </a:pPr>
            <a:r>
              <a:rPr lang="en-US" sz="2000">
                <a:solidFill>
                  <a:srgbClr val="0A3D82"/>
                </a:solidFill>
                <a:latin typeface="League Spartan"/>
                <a:ea typeface="League Spartan"/>
                <a:cs typeface="League Spartan"/>
                <a:sym typeface="League Spartan"/>
              </a:rPr>
              <a:t>SCATTERPLOT CORRELATION : SALES, PROFIT, COST, MARGIN</a:t>
            </a:r>
          </a:p>
        </p:txBody>
      </p:sp>
      <p:sp>
        <p:nvSpPr>
          <p:cNvPr name="TextBox 15" id="15"/>
          <p:cNvSpPr txBox="true"/>
          <p:nvPr/>
        </p:nvSpPr>
        <p:spPr>
          <a:xfrm rot="0">
            <a:off x="4627336" y="5367264"/>
            <a:ext cx="3752056" cy="1409021"/>
          </a:xfrm>
          <a:prstGeom prst="rect">
            <a:avLst/>
          </a:prstGeom>
        </p:spPr>
        <p:txBody>
          <a:bodyPr anchor="t" rtlCol="false" tIns="0" lIns="0" bIns="0" rIns="0">
            <a:spAutoFit/>
          </a:bodyPr>
          <a:lstStyle/>
          <a:p>
            <a:pPr algn="just">
              <a:lnSpc>
                <a:spcPts val="1612"/>
              </a:lnSpc>
            </a:pPr>
            <a:r>
              <a:rPr lang="en-US" sz="1151">
                <a:solidFill>
                  <a:srgbClr val="0A3D82"/>
                </a:solidFill>
                <a:latin typeface="Glacial Indifference"/>
                <a:ea typeface="Glacial Indifference"/>
                <a:cs typeface="Glacial Indifference"/>
                <a:sym typeface="Glacial Indifference"/>
              </a:rPr>
              <a:t>The average margin is around 30%, meaning each transaction</a:t>
            </a:r>
            <a:r>
              <a:rPr lang="en-US" sz="1151">
                <a:solidFill>
                  <a:srgbClr val="0A3D82"/>
                </a:solidFill>
                <a:latin typeface="Glacial Indifference"/>
                <a:ea typeface="Glacial Indifference"/>
                <a:cs typeface="Glacial Indifference"/>
                <a:sym typeface="Glacial Indifference"/>
              </a:rPr>
              <a:t> generates approximately 30% profit from sales. The margin varies quite widely (14%–50%), indicating significant variation across transactions. Therefore, although the average margin is relatively good (~30%), there are variations between transactions that suggest inefficiencies at certain levels.</a:t>
            </a:r>
          </a:p>
        </p:txBody>
      </p:sp>
      <p:sp>
        <p:nvSpPr>
          <p:cNvPr name="TextBox 16" id="16"/>
          <p:cNvSpPr txBox="true"/>
          <p:nvPr/>
        </p:nvSpPr>
        <p:spPr>
          <a:xfrm rot="0">
            <a:off x="8548899" y="5367264"/>
            <a:ext cx="3752056" cy="1208996"/>
          </a:xfrm>
          <a:prstGeom prst="rect">
            <a:avLst/>
          </a:prstGeom>
        </p:spPr>
        <p:txBody>
          <a:bodyPr anchor="t" rtlCol="false" tIns="0" lIns="0" bIns="0" rIns="0">
            <a:spAutoFit/>
          </a:bodyPr>
          <a:lstStyle/>
          <a:p>
            <a:pPr algn="just">
              <a:lnSpc>
                <a:spcPts val="1612"/>
              </a:lnSpc>
            </a:pPr>
            <a:r>
              <a:rPr lang="en-US" sz="1151">
                <a:solidFill>
                  <a:srgbClr val="0A3D82"/>
                </a:solidFill>
                <a:latin typeface="Glacial Indifference"/>
                <a:ea typeface="Glacial Indifference"/>
                <a:cs typeface="Glacial Indifference"/>
                <a:sym typeface="Glacial Indifference"/>
              </a:rPr>
              <a:t>Profit differences are not driv</a:t>
            </a:r>
            <a:r>
              <a:rPr lang="en-US" sz="1151">
                <a:solidFill>
                  <a:srgbClr val="0A3D82"/>
                </a:solidFill>
                <a:latin typeface="Glacial Indifference"/>
                <a:ea typeface="Glacial Indifference"/>
                <a:cs typeface="Glacial Indifference"/>
                <a:sym typeface="Glacial Indifference"/>
              </a:rPr>
              <a:t>en solely by sales, but also by margin. This is indicated by the darker-colored upper area representing high margins, while the lighter-colored lower area represents low margins. Therefore, it is necessary to identify the causes of low margins, whether they are related to product categories or other factors.</a:t>
            </a:r>
          </a:p>
        </p:txBody>
      </p:sp>
      <p:sp>
        <p:nvSpPr>
          <p:cNvPr name="TextBox 17" id="17"/>
          <p:cNvSpPr txBox="true"/>
          <p:nvPr/>
        </p:nvSpPr>
        <p:spPr>
          <a:xfrm rot="0">
            <a:off x="12634329" y="5367264"/>
            <a:ext cx="3752056" cy="808946"/>
          </a:xfrm>
          <a:prstGeom prst="rect">
            <a:avLst/>
          </a:prstGeom>
        </p:spPr>
        <p:txBody>
          <a:bodyPr anchor="t" rtlCol="false" tIns="0" lIns="0" bIns="0" rIns="0">
            <a:spAutoFit/>
          </a:bodyPr>
          <a:lstStyle/>
          <a:p>
            <a:pPr algn="just">
              <a:lnSpc>
                <a:spcPts val="1612"/>
              </a:lnSpc>
            </a:pPr>
            <a:r>
              <a:rPr lang="en-US" sz="1151">
                <a:solidFill>
                  <a:srgbClr val="0A3D82"/>
                </a:solidFill>
                <a:latin typeface="Glacial Indifference"/>
                <a:ea typeface="Glacial Indifference"/>
                <a:cs typeface="Glacial Indifference"/>
                <a:sym typeface="Glacial Indifference"/>
              </a:rPr>
              <a:t>Although cost</a:t>
            </a:r>
            <a:r>
              <a:rPr lang="en-US" sz="1151">
                <a:solidFill>
                  <a:srgbClr val="0A3D82"/>
                </a:solidFill>
                <a:latin typeface="Glacial Indifference"/>
                <a:ea typeface="Glacial Indifference"/>
                <a:cs typeface="Glacial Indifference"/>
                <a:sym typeface="Glacial Indifference"/>
              </a:rPr>
              <a:t> generally increases with sales, there is significant variation in cost levels for similar sales values. This indicates inconsistency in cost efficiency across transactions.</a:t>
            </a:r>
          </a:p>
        </p:txBody>
      </p:sp>
      <p:sp>
        <p:nvSpPr>
          <p:cNvPr name="TextBox 18" id="18"/>
          <p:cNvSpPr txBox="true"/>
          <p:nvPr/>
        </p:nvSpPr>
        <p:spPr>
          <a:xfrm rot="0">
            <a:off x="589186" y="7744443"/>
            <a:ext cx="7644482" cy="709886"/>
          </a:xfrm>
          <a:prstGeom prst="rect">
            <a:avLst/>
          </a:prstGeom>
        </p:spPr>
        <p:txBody>
          <a:bodyPr anchor="t" rtlCol="false" tIns="0" lIns="0" bIns="0" rIns="0">
            <a:spAutoFit/>
          </a:bodyPr>
          <a:lstStyle/>
          <a:p>
            <a:pPr algn="just">
              <a:lnSpc>
                <a:spcPts val="2872"/>
              </a:lnSpc>
            </a:pPr>
            <a:r>
              <a:rPr lang="en-US" sz="2051" b="true">
                <a:solidFill>
                  <a:srgbClr val="0A3D82"/>
                </a:solidFill>
                <a:latin typeface="Glacial Indifference Bold"/>
                <a:ea typeface="Glacial Indifference Bold"/>
                <a:cs typeface="Glacial Indifference Bold"/>
                <a:sym typeface="Glacial Indifference Bold"/>
              </a:rPr>
              <a:t>Conclusion: </a:t>
            </a:r>
            <a:r>
              <a:rPr lang="en-US" sz="2051">
                <a:solidFill>
                  <a:srgbClr val="0A3D82"/>
                </a:solidFill>
                <a:latin typeface="Glacial Indifference"/>
                <a:ea typeface="Glacial Indifference"/>
                <a:cs typeface="Glacial Indifference"/>
                <a:sym typeface="Glacial Indifference"/>
              </a:rPr>
              <a:t>Visually, sales, profit, cost, and margin are interrelated.</a:t>
            </a:r>
          </a:p>
          <a:p>
            <a:pPr algn="just">
              <a:lnSpc>
                <a:spcPts val="2872"/>
              </a:lnSpc>
            </a:pPr>
          </a:p>
        </p:txBody>
      </p:sp>
      <p:sp>
        <p:nvSpPr>
          <p:cNvPr name="TextBox 19" id="19"/>
          <p:cNvSpPr txBox="true"/>
          <p:nvPr/>
        </p:nvSpPr>
        <p:spPr>
          <a:xfrm rot="0">
            <a:off x="331218" y="9614916"/>
            <a:ext cx="9360619" cy="672084"/>
          </a:xfrm>
          <a:prstGeom prst="rect">
            <a:avLst/>
          </a:prstGeom>
        </p:spPr>
        <p:txBody>
          <a:bodyPr anchor="t" rtlCol="false" tIns="0" lIns="0" bIns="0" rIns="0">
            <a:spAutoFit/>
          </a:bodyPr>
          <a:lstStyle/>
          <a:p>
            <a:pPr algn="just">
              <a:lnSpc>
                <a:spcPts val="1727"/>
              </a:lnSpc>
            </a:pPr>
            <a:r>
              <a:rPr lang="en-US" sz="1599">
                <a:solidFill>
                  <a:srgbClr val="004AAD"/>
                </a:solidFill>
                <a:latin typeface="Glacial Indifference"/>
                <a:ea typeface="Glacial Indifference"/>
                <a:cs typeface="Glacial Indifference"/>
                <a:sym typeface="Glacial Indifference"/>
              </a:rPr>
              <a:t>optimizing profitability and discount strategy</a:t>
            </a:r>
          </a:p>
          <a:p>
            <a:pPr algn="just">
              <a:lnSpc>
                <a:spcPts val="1727"/>
              </a:lnSpc>
            </a:pPr>
            <a:r>
              <a:rPr lang="en-US" sz="1599">
                <a:solidFill>
                  <a:srgbClr val="004AAD"/>
                </a:solidFill>
                <a:latin typeface="Glacial Indifference"/>
                <a:ea typeface="Glacial Indifference"/>
                <a:cs typeface="Glacial Indifference"/>
                <a:sym typeface="Glacial Indifference"/>
              </a:rPr>
              <a:t>using retail business analytics data - Dea &amp; Lauzia</a:t>
            </a:r>
          </a:p>
          <a:p>
            <a:pPr algn="just">
              <a:lnSpc>
                <a:spcPts val="1727"/>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6FAFF"/>
        </a:solidFill>
      </p:bgPr>
    </p:bg>
    <p:spTree>
      <p:nvGrpSpPr>
        <p:cNvPr id="1" name=""/>
        <p:cNvGrpSpPr/>
        <p:nvPr/>
      </p:nvGrpSpPr>
      <p:grpSpPr>
        <a:xfrm>
          <a:off x="0" y="0"/>
          <a:ext cx="0" cy="0"/>
          <a:chOff x="0" y="0"/>
          <a:chExt cx="0" cy="0"/>
        </a:xfrm>
      </p:grpSpPr>
      <p:grpSp>
        <p:nvGrpSpPr>
          <p:cNvPr name="Group 2" id="2"/>
          <p:cNvGrpSpPr/>
          <p:nvPr/>
        </p:nvGrpSpPr>
        <p:grpSpPr>
          <a:xfrm rot="0">
            <a:off x="230075" y="217177"/>
            <a:ext cx="16581914" cy="1060310"/>
            <a:chOff x="0" y="0"/>
            <a:chExt cx="4367253" cy="279259"/>
          </a:xfrm>
        </p:grpSpPr>
        <p:sp>
          <p:nvSpPr>
            <p:cNvPr name="Freeform 3" id="3"/>
            <p:cNvSpPr/>
            <p:nvPr/>
          </p:nvSpPr>
          <p:spPr>
            <a:xfrm flipH="false" flipV="false" rot="0">
              <a:off x="0" y="0"/>
              <a:ext cx="4367253" cy="279259"/>
            </a:xfrm>
            <a:custGeom>
              <a:avLst/>
              <a:gdLst/>
              <a:ahLst/>
              <a:cxnLst/>
              <a:rect r="r" b="b" t="t" l="l"/>
              <a:pathLst>
                <a:path h="279259" w="4367253">
                  <a:moveTo>
                    <a:pt x="0" y="0"/>
                  </a:moveTo>
                  <a:lnTo>
                    <a:pt x="4367253" y="0"/>
                  </a:lnTo>
                  <a:lnTo>
                    <a:pt x="4367253" y="279259"/>
                  </a:lnTo>
                  <a:lnTo>
                    <a:pt x="0" y="279259"/>
                  </a:lnTo>
                  <a:close/>
                </a:path>
              </a:pathLst>
            </a:custGeom>
            <a:solidFill>
              <a:srgbClr val="0A3D82"/>
            </a:solidFill>
          </p:spPr>
        </p:sp>
        <p:sp>
          <p:nvSpPr>
            <p:cNvPr name="TextBox 4" id="4"/>
            <p:cNvSpPr txBox="true"/>
            <p:nvPr/>
          </p:nvSpPr>
          <p:spPr>
            <a:xfrm>
              <a:off x="0" y="-38100"/>
              <a:ext cx="4367253" cy="317359"/>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5712392" y="2656680"/>
            <a:ext cx="1546908" cy="638099"/>
          </a:xfrm>
          <a:custGeom>
            <a:avLst/>
            <a:gdLst/>
            <a:ahLst/>
            <a:cxnLst/>
            <a:rect r="r" b="b" t="t" l="l"/>
            <a:pathLst>
              <a:path h="638099" w="1546908">
                <a:moveTo>
                  <a:pt x="0" y="0"/>
                </a:moveTo>
                <a:lnTo>
                  <a:pt x="1546908" y="0"/>
                </a:lnTo>
                <a:lnTo>
                  <a:pt x="1546908" y="638099"/>
                </a:lnTo>
                <a:lnTo>
                  <a:pt x="0" y="6380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7259300" y="9220200"/>
            <a:ext cx="152400" cy="190500"/>
          </a:xfrm>
          <a:prstGeom prst="rect">
            <a:avLst/>
          </a:prstGeom>
        </p:spPr>
        <p:txBody>
          <a:bodyPr anchor="t" rtlCol="false" tIns="0" lIns="0" bIns="0" rIns="0" wrap="none">
            <a:spAutoFit/>
          </a:bodyPr>
          <a:lstStyle/>
          <a:p>
            <a:pPr algn="ctr">
              <a:lnSpc>
                <a:spcPts val="1679"/>
              </a:lnSpc>
              <a:spcBef>
                <a:spcPct val="0"/>
              </a:spcBef>
            </a:pPr>
            <a:r>
              <a:rPr lang="en-US" sz="1200">
                <a:solidFill>
                  <a:srgbClr val="000000"/>
                </a:solidFill>
                <a:latin typeface="Arimo"/>
                <a:ea typeface="Arimo"/>
                <a:cs typeface="Arimo"/>
                <a:sym typeface="Arimo"/>
              </a:rPr>
              <a:t>Halaman 7 dari 13</a:t>
            </a:r>
          </a:p>
        </p:txBody>
      </p:sp>
      <p:sp>
        <p:nvSpPr>
          <p:cNvPr name="Freeform 7" id="7"/>
          <p:cNvSpPr/>
          <p:nvPr/>
        </p:nvSpPr>
        <p:spPr>
          <a:xfrm flipH="false" flipV="false" rot="4363940">
            <a:off x="13720571" y="1586867"/>
            <a:ext cx="10893107" cy="8796184"/>
          </a:xfrm>
          <a:custGeom>
            <a:avLst/>
            <a:gdLst/>
            <a:ahLst/>
            <a:cxnLst/>
            <a:rect r="r" b="b" t="t" l="l"/>
            <a:pathLst>
              <a:path h="8796184" w="10893107">
                <a:moveTo>
                  <a:pt x="0" y="0"/>
                </a:moveTo>
                <a:lnTo>
                  <a:pt x="10893107" y="0"/>
                </a:lnTo>
                <a:lnTo>
                  <a:pt x="10893107" y="8796184"/>
                </a:lnTo>
                <a:lnTo>
                  <a:pt x="0" y="87961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589186" y="2181225"/>
            <a:ext cx="5591516" cy="2638199"/>
          </a:xfrm>
          <a:custGeom>
            <a:avLst/>
            <a:gdLst/>
            <a:ahLst/>
            <a:cxnLst/>
            <a:rect r="r" b="b" t="t" l="l"/>
            <a:pathLst>
              <a:path h="2638199" w="5591516">
                <a:moveTo>
                  <a:pt x="0" y="0"/>
                </a:moveTo>
                <a:lnTo>
                  <a:pt x="5591516" y="0"/>
                </a:lnTo>
                <a:lnTo>
                  <a:pt x="5591516" y="2638199"/>
                </a:lnTo>
                <a:lnTo>
                  <a:pt x="0" y="2638199"/>
                </a:lnTo>
                <a:lnTo>
                  <a:pt x="0" y="0"/>
                </a:lnTo>
                <a:close/>
              </a:path>
            </a:pathLst>
          </a:custGeom>
          <a:blipFill>
            <a:blip r:embed="rId6"/>
            <a:stretch>
              <a:fillRect l="0" t="0" r="0" b="0"/>
            </a:stretch>
          </a:blipFill>
        </p:spPr>
      </p:sp>
      <p:graphicFrame>
        <p:nvGraphicFramePr>
          <p:cNvPr name="Object 9" id="9"/>
          <p:cNvGraphicFramePr/>
          <p:nvPr/>
        </p:nvGraphicFramePr>
        <p:xfrm>
          <a:off x="6645004" y="2269255"/>
          <a:ext cx="5657850" cy="4400550"/>
        </p:xfrm>
        <a:graphic>
          <a:graphicData uri="http://schemas.openxmlformats.org/presentationml/2006/ole">
            <p:oleObj imgW="6781800" imgH="5524500" r:id="rId8" progId="Excel.Sheet.12" name="Worksheet">
              <p:embed/>
              <p:pic>
                <p:nvPicPr>
                  <p:cNvPr name="" id="0"/>
                  <p:cNvPicPr/>
                  <p:nvPr/>
                </p:nvPicPr>
                <p:blipFill>
                  <a:blip r:embed="rId7"/>
                  <a:stretch>
                    <a:fillRect/>
                  </a:stretch>
                </p:blipFill>
                <p:spPr>
                  <a:xfrm>
                    <a:off x="1270000" y="1270000"/>
                    <a:ext cx="1270000" cy="1270000"/>
                  </a:xfrm>
                  <a:prstGeom prst="rect"/>
                </p:spPr>
              </p:pic>
            </p:oleObj>
          </a:graphicData>
        </a:graphic>
      </p:graphicFrame>
      <p:sp>
        <p:nvSpPr>
          <p:cNvPr name="Freeform 10" id="10"/>
          <p:cNvSpPr/>
          <p:nvPr/>
        </p:nvSpPr>
        <p:spPr>
          <a:xfrm flipH="false" flipV="false" rot="0">
            <a:off x="10915177" y="2181225"/>
            <a:ext cx="3674194" cy="2762024"/>
          </a:xfrm>
          <a:custGeom>
            <a:avLst/>
            <a:gdLst/>
            <a:ahLst/>
            <a:cxnLst/>
            <a:rect r="r" b="b" t="t" l="l"/>
            <a:pathLst>
              <a:path h="2762024" w="3674194">
                <a:moveTo>
                  <a:pt x="0" y="0"/>
                </a:moveTo>
                <a:lnTo>
                  <a:pt x="3674194" y="0"/>
                </a:lnTo>
                <a:lnTo>
                  <a:pt x="3674194" y="2762024"/>
                </a:lnTo>
                <a:lnTo>
                  <a:pt x="0" y="2762024"/>
                </a:lnTo>
                <a:lnTo>
                  <a:pt x="0" y="0"/>
                </a:lnTo>
                <a:close/>
              </a:path>
            </a:pathLst>
          </a:custGeom>
          <a:blipFill>
            <a:blip r:embed="rId9"/>
            <a:stretch>
              <a:fillRect l="0" t="0" r="0" b="0"/>
            </a:stretch>
          </a:blipFill>
        </p:spPr>
      </p:sp>
      <p:sp>
        <p:nvSpPr>
          <p:cNvPr name="TextBox 11" id="11"/>
          <p:cNvSpPr txBox="true"/>
          <p:nvPr/>
        </p:nvSpPr>
        <p:spPr>
          <a:xfrm rot="0">
            <a:off x="589186" y="5367264"/>
            <a:ext cx="5482307" cy="2009096"/>
          </a:xfrm>
          <a:prstGeom prst="rect">
            <a:avLst/>
          </a:prstGeom>
        </p:spPr>
        <p:txBody>
          <a:bodyPr anchor="t" rtlCol="false" tIns="0" lIns="0" bIns="0" rIns="0">
            <a:spAutoFit/>
          </a:bodyPr>
          <a:lstStyle/>
          <a:p>
            <a:pPr algn="just">
              <a:lnSpc>
                <a:spcPts val="1612"/>
              </a:lnSpc>
            </a:pPr>
            <a:r>
              <a:rPr lang="en-US" sz="1151">
                <a:solidFill>
                  <a:srgbClr val="0A3D82"/>
                </a:solidFill>
                <a:latin typeface="Glacial Indifference"/>
                <a:ea typeface="Glacial Indifference"/>
                <a:cs typeface="Glacial Indifference"/>
                <a:sym typeface="Glacial Indifference"/>
              </a:rPr>
              <a:t>- Sales performance is relatively consistent across all product categories, indicating a well-balanced revenue distribution.</a:t>
            </a:r>
          </a:p>
          <a:p>
            <a:pPr algn="just">
              <a:lnSpc>
                <a:spcPts val="1612"/>
              </a:lnSpc>
            </a:pPr>
            <a:r>
              <a:rPr lang="en-US" sz="1151">
                <a:solidFill>
                  <a:srgbClr val="0A3D82"/>
                </a:solidFill>
                <a:latin typeface="Glacial Indifference"/>
                <a:ea typeface="Glacial Indifference"/>
                <a:cs typeface="Glacial Indifference"/>
                <a:sym typeface="Glacial Indifference"/>
              </a:rPr>
              <a:t>- However, profitability varies significantly, suggesting differences in cost</a:t>
            </a:r>
            <a:r>
              <a:rPr lang="en-US" sz="1151">
                <a:solidFill>
                  <a:srgbClr val="0A3D82"/>
                </a:solidFill>
                <a:latin typeface="Glacial Indifference"/>
                <a:ea typeface="Glacial Indifference"/>
                <a:cs typeface="Glacial Indifference"/>
                <a:sym typeface="Glacial Indifference"/>
              </a:rPr>
              <a:t> efficiency.</a:t>
            </a:r>
          </a:p>
          <a:p>
            <a:pPr algn="just">
              <a:lnSpc>
                <a:spcPts val="1612"/>
              </a:lnSpc>
            </a:pPr>
            <a:r>
              <a:rPr lang="en-US" sz="1151">
                <a:solidFill>
                  <a:srgbClr val="0A3D82"/>
                </a:solidFill>
                <a:latin typeface="Glacial Indifference"/>
                <a:ea typeface="Glacial Indifference"/>
                <a:cs typeface="Glacial Indifference"/>
                <a:sym typeface="Glacial Indifference"/>
              </a:rPr>
              <a:t>- Electronics stands out as the most profitable category, demonstrating strong efficiency and high margin.</a:t>
            </a:r>
          </a:p>
          <a:p>
            <a:pPr algn="just">
              <a:lnSpc>
                <a:spcPts val="1612"/>
              </a:lnSpc>
            </a:pPr>
            <a:r>
              <a:rPr lang="en-US" sz="1151">
                <a:solidFill>
                  <a:srgbClr val="0A3D82"/>
                </a:solidFill>
                <a:latin typeface="Glacial Indifference"/>
                <a:ea typeface="Glacial Indifference"/>
                <a:cs typeface="Glacial Indifference"/>
                <a:sym typeface="Glacial Indifference"/>
              </a:rPr>
              <a:t>- Clothing shows relatively lower profit despite strong sales, indicating potential inefficiencies or higher cost structure.</a:t>
            </a:r>
          </a:p>
          <a:p>
            <a:pPr algn="just">
              <a:lnSpc>
                <a:spcPts val="1612"/>
              </a:lnSpc>
            </a:pPr>
            <a:r>
              <a:rPr lang="en-US" sz="1151">
                <a:solidFill>
                  <a:srgbClr val="0A3D82"/>
                </a:solidFill>
                <a:latin typeface="Glacial Indifference"/>
                <a:ea typeface="Glacial Indifference"/>
                <a:cs typeface="Glacial Indifference"/>
                <a:sym typeface="Glacial Indifference"/>
              </a:rPr>
              <a:t>- Overall, profit differences are driven more by cost variation than sales volume.</a:t>
            </a:r>
          </a:p>
          <a:p>
            <a:pPr algn="just">
              <a:lnSpc>
                <a:spcPts val="1612"/>
              </a:lnSpc>
            </a:pPr>
            <a:r>
              <a:rPr lang="en-US" sz="1151">
                <a:solidFill>
                  <a:srgbClr val="0A3D82"/>
                </a:solidFill>
                <a:latin typeface="Glacial Indifference"/>
                <a:ea typeface="Glacial Indifference"/>
                <a:cs typeface="Glacial Indifference"/>
                <a:sym typeface="Glacial Indifference"/>
              </a:rPr>
              <a:t>Business Recommendations - Focus on expanding high-margin categories such as Electronics</a:t>
            </a:r>
          </a:p>
        </p:txBody>
      </p:sp>
      <p:sp>
        <p:nvSpPr>
          <p:cNvPr name="TextBox 12" id="12"/>
          <p:cNvSpPr txBox="true"/>
          <p:nvPr/>
        </p:nvSpPr>
        <p:spPr>
          <a:xfrm rot="0">
            <a:off x="589186" y="217901"/>
            <a:ext cx="9529338" cy="901700"/>
          </a:xfrm>
          <a:prstGeom prst="rect">
            <a:avLst/>
          </a:prstGeom>
        </p:spPr>
        <p:txBody>
          <a:bodyPr anchor="t" rtlCol="false" tIns="0" lIns="0" bIns="0" rIns="0">
            <a:spAutoFit/>
          </a:bodyPr>
          <a:lstStyle/>
          <a:p>
            <a:pPr algn="just">
              <a:lnSpc>
                <a:spcPts val="7000"/>
              </a:lnSpc>
            </a:pPr>
            <a:r>
              <a:rPr lang="en-US" b="true" sz="5000">
                <a:solidFill>
                  <a:srgbClr val="F6FAFF"/>
                </a:solidFill>
                <a:latin typeface="Poppins Bold"/>
                <a:ea typeface="Poppins Bold"/>
                <a:cs typeface="Poppins Bold"/>
                <a:sym typeface="Poppins Bold"/>
              </a:rPr>
              <a:t>DATA OVERVIEW</a:t>
            </a:r>
          </a:p>
        </p:txBody>
      </p:sp>
      <p:sp>
        <p:nvSpPr>
          <p:cNvPr name="TextBox 13" id="13"/>
          <p:cNvSpPr txBox="true"/>
          <p:nvPr/>
        </p:nvSpPr>
        <p:spPr>
          <a:xfrm rot="0">
            <a:off x="589186" y="1355725"/>
            <a:ext cx="5482307" cy="701675"/>
          </a:xfrm>
          <a:prstGeom prst="rect">
            <a:avLst/>
          </a:prstGeom>
        </p:spPr>
        <p:txBody>
          <a:bodyPr anchor="t" rtlCol="false" tIns="0" lIns="0" bIns="0" rIns="0">
            <a:spAutoFit/>
          </a:bodyPr>
          <a:lstStyle/>
          <a:p>
            <a:pPr algn="l">
              <a:lnSpc>
                <a:spcPts val="2800"/>
              </a:lnSpc>
            </a:pPr>
            <a:r>
              <a:rPr lang="en-US" sz="2000">
                <a:solidFill>
                  <a:srgbClr val="0A3D82"/>
                </a:solidFill>
                <a:latin typeface="League Spartan"/>
                <a:ea typeface="League Spartan"/>
                <a:cs typeface="League Spartan"/>
                <a:sym typeface="League Spartan"/>
              </a:rPr>
              <a:t>SALES, COST, AND PROFIT BY CATEGORY</a:t>
            </a:r>
          </a:p>
          <a:p>
            <a:pPr algn="l">
              <a:lnSpc>
                <a:spcPts val="2800"/>
              </a:lnSpc>
            </a:pPr>
          </a:p>
        </p:txBody>
      </p:sp>
      <p:sp>
        <p:nvSpPr>
          <p:cNvPr name="TextBox 14" id="14"/>
          <p:cNvSpPr txBox="true"/>
          <p:nvPr/>
        </p:nvSpPr>
        <p:spPr>
          <a:xfrm rot="0">
            <a:off x="6645004" y="5367264"/>
            <a:ext cx="3752056" cy="1809071"/>
          </a:xfrm>
          <a:prstGeom prst="rect">
            <a:avLst/>
          </a:prstGeom>
        </p:spPr>
        <p:txBody>
          <a:bodyPr anchor="t" rtlCol="false" tIns="0" lIns="0" bIns="0" rIns="0">
            <a:spAutoFit/>
          </a:bodyPr>
          <a:lstStyle/>
          <a:p>
            <a:pPr algn="just">
              <a:lnSpc>
                <a:spcPts val="1612"/>
              </a:lnSpc>
            </a:pPr>
            <a:r>
              <a:rPr lang="en-US" sz="1151">
                <a:solidFill>
                  <a:srgbClr val="0A3D82"/>
                </a:solidFill>
                <a:latin typeface="Glacial Indifference"/>
                <a:ea typeface="Glacial Indifference"/>
                <a:cs typeface="Glacial Indifference"/>
                <a:sym typeface="Glacial Indifference"/>
              </a:rPr>
              <a:t>Based on the average margin, the Electronic</a:t>
            </a:r>
            <a:r>
              <a:rPr lang="en-US" sz="1151">
                <a:solidFill>
                  <a:srgbClr val="0A3D82"/>
                </a:solidFill>
                <a:latin typeface="Glacial Indifference"/>
                <a:ea typeface="Glacial Indifference"/>
                <a:cs typeface="Glacial Indifference"/>
                <a:sym typeface="Glacial Indifference"/>
              </a:rPr>
              <a:t>s category has the highest margin, while Clothing has the lowest. The difference is very small, so it can be concluded that all categories have relatively similar margins. This means that product categories do not significantly differentiate margin performance and are generally consistent. Therefore, differences in profit are likely driven by individual transaction factors such as pricing, discounts, or cost variability.</a:t>
            </a:r>
          </a:p>
        </p:txBody>
      </p:sp>
      <p:sp>
        <p:nvSpPr>
          <p:cNvPr name="TextBox 15" id="15"/>
          <p:cNvSpPr txBox="true"/>
          <p:nvPr/>
        </p:nvSpPr>
        <p:spPr>
          <a:xfrm rot="0">
            <a:off x="10968559" y="5367264"/>
            <a:ext cx="3752056" cy="808946"/>
          </a:xfrm>
          <a:prstGeom prst="rect">
            <a:avLst/>
          </a:prstGeom>
        </p:spPr>
        <p:txBody>
          <a:bodyPr anchor="t" rtlCol="false" tIns="0" lIns="0" bIns="0" rIns="0">
            <a:spAutoFit/>
          </a:bodyPr>
          <a:lstStyle/>
          <a:p>
            <a:pPr algn="just">
              <a:lnSpc>
                <a:spcPts val="1612"/>
              </a:lnSpc>
            </a:pPr>
            <a:r>
              <a:rPr lang="en-US" sz="1151">
                <a:solidFill>
                  <a:srgbClr val="0A3D82"/>
                </a:solidFill>
                <a:latin typeface="Glacial Indifference"/>
                <a:ea typeface="Glacial Indifference"/>
                <a:cs typeface="Glacial Indifference"/>
                <a:sym typeface="Glacial Indifference"/>
              </a:rPr>
              <a:t>Visuall</a:t>
            </a:r>
            <a:r>
              <a:rPr lang="en-US" sz="1151">
                <a:solidFill>
                  <a:srgbClr val="0A3D82"/>
                </a:solidFill>
                <a:latin typeface="Glacial Indifference"/>
                <a:ea typeface="Glacial Indifference"/>
                <a:cs typeface="Glacial Indifference"/>
                <a:sym typeface="Glacial Indifference"/>
              </a:rPr>
              <a:t>y, the margin distribution across product categories is nearly identical (in terms of mean and variance), indicating that the source of variation lies within categories.</a:t>
            </a:r>
          </a:p>
        </p:txBody>
      </p:sp>
      <p:sp>
        <p:nvSpPr>
          <p:cNvPr name="TextBox 16" id="16"/>
          <p:cNvSpPr txBox="true"/>
          <p:nvPr/>
        </p:nvSpPr>
        <p:spPr>
          <a:xfrm rot="0">
            <a:off x="589186" y="7744443"/>
            <a:ext cx="10061972" cy="1071836"/>
          </a:xfrm>
          <a:prstGeom prst="rect">
            <a:avLst/>
          </a:prstGeom>
        </p:spPr>
        <p:txBody>
          <a:bodyPr anchor="t" rtlCol="false" tIns="0" lIns="0" bIns="0" rIns="0">
            <a:spAutoFit/>
          </a:bodyPr>
          <a:lstStyle/>
          <a:p>
            <a:pPr algn="just">
              <a:lnSpc>
                <a:spcPts val="2872"/>
              </a:lnSpc>
            </a:pPr>
            <a:r>
              <a:rPr lang="en-US" sz="2051" b="true">
                <a:solidFill>
                  <a:srgbClr val="0A3D82"/>
                </a:solidFill>
                <a:latin typeface="Glacial Indifference Bold"/>
                <a:ea typeface="Glacial Indifference Bold"/>
                <a:cs typeface="Glacial Indifference Bold"/>
                <a:sym typeface="Glacial Indifference Bold"/>
              </a:rPr>
              <a:t>Conclusion: </a:t>
            </a:r>
            <a:r>
              <a:rPr lang="en-US" sz="2051">
                <a:solidFill>
                  <a:srgbClr val="0A3D82"/>
                </a:solidFill>
                <a:latin typeface="Glacial Indifference"/>
                <a:ea typeface="Glacial Indifference"/>
                <a:cs typeface="Glacial Indifference"/>
                <a:sym typeface="Glacial Indifference"/>
              </a:rPr>
              <a:t>Product category is not the cause of inefficiency.</a:t>
            </a:r>
          </a:p>
          <a:p>
            <a:pPr algn="just">
              <a:lnSpc>
                <a:spcPts val="2872"/>
              </a:lnSpc>
            </a:pPr>
            <a:r>
              <a:rPr lang="en-US" sz="2051">
                <a:solidFill>
                  <a:srgbClr val="0A3D82"/>
                </a:solidFill>
                <a:latin typeface="Glacial Indifference"/>
                <a:ea typeface="Glacial Indifference"/>
                <a:cs typeface="Glacial Indifference"/>
                <a:sym typeface="Glacial Indifference"/>
              </a:rPr>
              <a:t> The next step is to identify the factors driving inefficiency.</a:t>
            </a:r>
          </a:p>
          <a:p>
            <a:pPr algn="just">
              <a:lnSpc>
                <a:spcPts val="2872"/>
              </a:lnSpc>
            </a:pPr>
            <a:r>
              <a:rPr lang="en-US" sz="2051">
                <a:solidFill>
                  <a:srgbClr val="0A3D82"/>
                </a:solidFill>
                <a:latin typeface="Glacial Indifference"/>
                <a:ea typeface="Glacial Indifference"/>
                <a:cs typeface="Glacial Indifference"/>
                <a:sym typeface="Glacial Indifference"/>
              </a:rPr>
              <a:t> These factors exist at the individual transaction level, such as discounts, pricing, and cost.</a:t>
            </a:r>
          </a:p>
        </p:txBody>
      </p:sp>
      <p:sp>
        <p:nvSpPr>
          <p:cNvPr name="TextBox 17" id="17"/>
          <p:cNvSpPr txBox="true"/>
          <p:nvPr/>
        </p:nvSpPr>
        <p:spPr>
          <a:xfrm rot="0">
            <a:off x="331218" y="9614916"/>
            <a:ext cx="9360619" cy="672084"/>
          </a:xfrm>
          <a:prstGeom prst="rect">
            <a:avLst/>
          </a:prstGeom>
        </p:spPr>
        <p:txBody>
          <a:bodyPr anchor="t" rtlCol="false" tIns="0" lIns="0" bIns="0" rIns="0">
            <a:spAutoFit/>
          </a:bodyPr>
          <a:lstStyle/>
          <a:p>
            <a:pPr algn="just">
              <a:lnSpc>
                <a:spcPts val="1727"/>
              </a:lnSpc>
            </a:pPr>
            <a:r>
              <a:rPr lang="en-US" sz="1599">
                <a:solidFill>
                  <a:srgbClr val="004AAD"/>
                </a:solidFill>
                <a:latin typeface="Glacial Indifference"/>
                <a:ea typeface="Glacial Indifference"/>
                <a:cs typeface="Glacial Indifference"/>
                <a:sym typeface="Glacial Indifference"/>
              </a:rPr>
              <a:t>optimizing profitability and discount strategy</a:t>
            </a:r>
          </a:p>
          <a:p>
            <a:pPr algn="just">
              <a:lnSpc>
                <a:spcPts val="1727"/>
              </a:lnSpc>
            </a:pPr>
            <a:r>
              <a:rPr lang="en-US" sz="1599">
                <a:solidFill>
                  <a:srgbClr val="004AAD"/>
                </a:solidFill>
                <a:latin typeface="Glacial Indifference"/>
                <a:ea typeface="Glacial Indifference"/>
                <a:cs typeface="Glacial Indifference"/>
                <a:sym typeface="Glacial Indifference"/>
              </a:rPr>
              <a:t>using retail business analytics data - Dea &amp; Lauzia</a:t>
            </a:r>
          </a:p>
          <a:p>
            <a:pPr algn="just">
              <a:lnSpc>
                <a:spcPts val="1727"/>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6FAFF"/>
        </a:solidFill>
      </p:bgPr>
    </p:bg>
    <p:spTree>
      <p:nvGrpSpPr>
        <p:cNvPr id="1" name=""/>
        <p:cNvGrpSpPr/>
        <p:nvPr/>
      </p:nvGrpSpPr>
      <p:grpSpPr>
        <a:xfrm>
          <a:off x="0" y="0"/>
          <a:ext cx="0" cy="0"/>
          <a:chOff x="0" y="0"/>
          <a:chExt cx="0" cy="0"/>
        </a:xfrm>
      </p:grpSpPr>
      <p:grpSp>
        <p:nvGrpSpPr>
          <p:cNvPr name="Group 2" id="2"/>
          <p:cNvGrpSpPr/>
          <p:nvPr/>
        </p:nvGrpSpPr>
        <p:grpSpPr>
          <a:xfrm rot="0">
            <a:off x="230075" y="217177"/>
            <a:ext cx="16581914" cy="1060310"/>
            <a:chOff x="0" y="0"/>
            <a:chExt cx="4367253" cy="279259"/>
          </a:xfrm>
        </p:grpSpPr>
        <p:sp>
          <p:nvSpPr>
            <p:cNvPr name="Freeform 3" id="3"/>
            <p:cNvSpPr/>
            <p:nvPr/>
          </p:nvSpPr>
          <p:spPr>
            <a:xfrm flipH="false" flipV="false" rot="0">
              <a:off x="0" y="0"/>
              <a:ext cx="4367253" cy="279259"/>
            </a:xfrm>
            <a:custGeom>
              <a:avLst/>
              <a:gdLst/>
              <a:ahLst/>
              <a:cxnLst/>
              <a:rect r="r" b="b" t="t" l="l"/>
              <a:pathLst>
                <a:path h="279259" w="4367253">
                  <a:moveTo>
                    <a:pt x="0" y="0"/>
                  </a:moveTo>
                  <a:lnTo>
                    <a:pt x="4367253" y="0"/>
                  </a:lnTo>
                  <a:lnTo>
                    <a:pt x="4367253" y="279259"/>
                  </a:lnTo>
                  <a:lnTo>
                    <a:pt x="0" y="279259"/>
                  </a:lnTo>
                  <a:close/>
                </a:path>
              </a:pathLst>
            </a:custGeom>
            <a:solidFill>
              <a:srgbClr val="0A3D82"/>
            </a:solidFill>
          </p:spPr>
        </p:sp>
        <p:sp>
          <p:nvSpPr>
            <p:cNvPr name="TextBox 4" id="4"/>
            <p:cNvSpPr txBox="true"/>
            <p:nvPr/>
          </p:nvSpPr>
          <p:spPr>
            <a:xfrm>
              <a:off x="0" y="-38100"/>
              <a:ext cx="4367253" cy="317359"/>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5712392" y="2656680"/>
            <a:ext cx="1546908" cy="638099"/>
          </a:xfrm>
          <a:custGeom>
            <a:avLst/>
            <a:gdLst/>
            <a:ahLst/>
            <a:cxnLst/>
            <a:rect r="r" b="b" t="t" l="l"/>
            <a:pathLst>
              <a:path h="638099" w="1546908">
                <a:moveTo>
                  <a:pt x="0" y="0"/>
                </a:moveTo>
                <a:lnTo>
                  <a:pt x="1546908" y="0"/>
                </a:lnTo>
                <a:lnTo>
                  <a:pt x="1546908" y="638099"/>
                </a:lnTo>
                <a:lnTo>
                  <a:pt x="0" y="6380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7259300" y="9220200"/>
            <a:ext cx="152400" cy="190500"/>
          </a:xfrm>
          <a:prstGeom prst="rect">
            <a:avLst/>
          </a:prstGeom>
        </p:spPr>
        <p:txBody>
          <a:bodyPr anchor="t" rtlCol="false" tIns="0" lIns="0" bIns="0" rIns="0" wrap="none">
            <a:spAutoFit/>
          </a:bodyPr>
          <a:lstStyle/>
          <a:p>
            <a:pPr algn="ctr">
              <a:lnSpc>
                <a:spcPts val="1679"/>
              </a:lnSpc>
              <a:spcBef>
                <a:spcPct val="0"/>
              </a:spcBef>
            </a:pPr>
            <a:r>
              <a:rPr lang="en-US" sz="1200">
                <a:solidFill>
                  <a:srgbClr val="000000"/>
                </a:solidFill>
                <a:latin typeface="Arimo"/>
                <a:ea typeface="Arimo"/>
                <a:cs typeface="Arimo"/>
                <a:sym typeface="Arimo"/>
              </a:rPr>
              <a:t>Halaman 8 dari 13</a:t>
            </a:r>
          </a:p>
        </p:txBody>
      </p:sp>
      <p:sp>
        <p:nvSpPr>
          <p:cNvPr name="Freeform 7" id="7"/>
          <p:cNvSpPr/>
          <p:nvPr/>
        </p:nvSpPr>
        <p:spPr>
          <a:xfrm flipH="false" flipV="false" rot="4363940">
            <a:off x="13720571" y="1586867"/>
            <a:ext cx="10893107" cy="8796184"/>
          </a:xfrm>
          <a:custGeom>
            <a:avLst/>
            <a:gdLst/>
            <a:ahLst/>
            <a:cxnLst/>
            <a:rect r="r" b="b" t="t" l="l"/>
            <a:pathLst>
              <a:path h="8796184" w="10893107">
                <a:moveTo>
                  <a:pt x="0" y="0"/>
                </a:moveTo>
                <a:lnTo>
                  <a:pt x="10893107" y="0"/>
                </a:lnTo>
                <a:lnTo>
                  <a:pt x="10893107" y="8796184"/>
                </a:lnTo>
                <a:lnTo>
                  <a:pt x="0" y="87961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589186" y="1990725"/>
            <a:ext cx="3425125" cy="2705611"/>
          </a:xfrm>
          <a:custGeom>
            <a:avLst/>
            <a:gdLst/>
            <a:ahLst/>
            <a:cxnLst/>
            <a:rect r="r" b="b" t="t" l="l"/>
            <a:pathLst>
              <a:path h="2705611" w="3425125">
                <a:moveTo>
                  <a:pt x="0" y="0"/>
                </a:moveTo>
                <a:lnTo>
                  <a:pt x="3425124" y="0"/>
                </a:lnTo>
                <a:lnTo>
                  <a:pt x="3425124" y="2705611"/>
                </a:lnTo>
                <a:lnTo>
                  <a:pt x="0" y="2705611"/>
                </a:lnTo>
                <a:lnTo>
                  <a:pt x="0" y="0"/>
                </a:lnTo>
                <a:close/>
              </a:path>
            </a:pathLst>
          </a:custGeom>
          <a:blipFill>
            <a:blip r:embed="rId6"/>
            <a:stretch>
              <a:fillRect l="0" t="0" r="0" b="0"/>
            </a:stretch>
          </a:blipFill>
        </p:spPr>
      </p:sp>
      <p:sp>
        <p:nvSpPr>
          <p:cNvPr name="Freeform 9" id="9"/>
          <p:cNvSpPr/>
          <p:nvPr/>
        </p:nvSpPr>
        <p:spPr>
          <a:xfrm flipH="false" flipV="false" rot="0">
            <a:off x="4510441" y="1990725"/>
            <a:ext cx="3752056" cy="2705611"/>
          </a:xfrm>
          <a:custGeom>
            <a:avLst/>
            <a:gdLst/>
            <a:ahLst/>
            <a:cxnLst/>
            <a:rect r="r" b="b" t="t" l="l"/>
            <a:pathLst>
              <a:path h="2705611" w="3752056">
                <a:moveTo>
                  <a:pt x="0" y="0"/>
                </a:moveTo>
                <a:lnTo>
                  <a:pt x="3752055" y="0"/>
                </a:lnTo>
                <a:lnTo>
                  <a:pt x="3752055" y="2705611"/>
                </a:lnTo>
                <a:lnTo>
                  <a:pt x="0" y="2705611"/>
                </a:lnTo>
                <a:lnTo>
                  <a:pt x="0" y="0"/>
                </a:lnTo>
                <a:close/>
              </a:path>
            </a:pathLst>
          </a:custGeom>
          <a:blipFill>
            <a:blip r:embed="rId7"/>
            <a:stretch>
              <a:fillRect l="0" t="0" r="0" b="0"/>
            </a:stretch>
          </a:blipFill>
        </p:spPr>
      </p:sp>
      <p:sp>
        <p:nvSpPr>
          <p:cNvPr name="Freeform 10" id="10"/>
          <p:cNvSpPr/>
          <p:nvPr/>
        </p:nvSpPr>
        <p:spPr>
          <a:xfrm flipH="false" flipV="false" rot="0">
            <a:off x="8930485" y="1990725"/>
            <a:ext cx="3604091" cy="2822481"/>
          </a:xfrm>
          <a:custGeom>
            <a:avLst/>
            <a:gdLst/>
            <a:ahLst/>
            <a:cxnLst/>
            <a:rect r="r" b="b" t="t" l="l"/>
            <a:pathLst>
              <a:path h="2822481" w="3604091">
                <a:moveTo>
                  <a:pt x="0" y="0"/>
                </a:moveTo>
                <a:lnTo>
                  <a:pt x="3604091" y="0"/>
                </a:lnTo>
                <a:lnTo>
                  <a:pt x="3604091" y="2822481"/>
                </a:lnTo>
                <a:lnTo>
                  <a:pt x="0" y="2822481"/>
                </a:lnTo>
                <a:lnTo>
                  <a:pt x="0" y="0"/>
                </a:lnTo>
                <a:close/>
              </a:path>
            </a:pathLst>
          </a:custGeom>
          <a:blipFill>
            <a:blip r:embed="rId8"/>
            <a:stretch>
              <a:fillRect l="0" t="0" r="0" b="0"/>
            </a:stretch>
          </a:blipFill>
        </p:spPr>
      </p:sp>
      <p:sp>
        <p:nvSpPr>
          <p:cNvPr name="TextBox 11" id="11"/>
          <p:cNvSpPr txBox="true"/>
          <p:nvPr/>
        </p:nvSpPr>
        <p:spPr>
          <a:xfrm rot="0">
            <a:off x="589186" y="5202238"/>
            <a:ext cx="3752056" cy="608921"/>
          </a:xfrm>
          <a:prstGeom prst="rect">
            <a:avLst/>
          </a:prstGeom>
        </p:spPr>
        <p:txBody>
          <a:bodyPr anchor="t" rtlCol="false" tIns="0" lIns="0" bIns="0" rIns="0">
            <a:spAutoFit/>
          </a:bodyPr>
          <a:lstStyle/>
          <a:p>
            <a:pPr algn="just">
              <a:lnSpc>
                <a:spcPts val="1612"/>
              </a:lnSpc>
            </a:pPr>
            <a:r>
              <a:rPr lang="en-US" sz="1151">
                <a:solidFill>
                  <a:srgbClr val="0A3D82"/>
                </a:solidFill>
                <a:latin typeface="Glacial Indifference"/>
                <a:ea typeface="Glacial Indifference"/>
                <a:cs typeface="Glacial Indifference"/>
                <a:sym typeface="Glacial Indifference"/>
              </a:rPr>
              <a:t>Based on the scatterplot of</a:t>
            </a:r>
            <a:r>
              <a:rPr lang="en-US" sz="1151">
                <a:solidFill>
                  <a:srgbClr val="0A3D82"/>
                </a:solidFill>
                <a:latin typeface="Glacial Indifference"/>
                <a:ea typeface="Glacial Indifference"/>
                <a:cs typeface="Glacial Indifference"/>
                <a:sym typeface="Glacial Indifference"/>
              </a:rPr>
              <a:t> discount rate and margin, the downward trend line indicates that discount has an effect on margin.</a:t>
            </a:r>
          </a:p>
        </p:txBody>
      </p:sp>
      <p:sp>
        <p:nvSpPr>
          <p:cNvPr name="TextBox 12" id="12"/>
          <p:cNvSpPr txBox="true"/>
          <p:nvPr/>
        </p:nvSpPr>
        <p:spPr>
          <a:xfrm rot="0">
            <a:off x="589186" y="217901"/>
            <a:ext cx="9529338" cy="901700"/>
          </a:xfrm>
          <a:prstGeom prst="rect">
            <a:avLst/>
          </a:prstGeom>
        </p:spPr>
        <p:txBody>
          <a:bodyPr anchor="t" rtlCol="false" tIns="0" lIns="0" bIns="0" rIns="0">
            <a:spAutoFit/>
          </a:bodyPr>
          <a:lstStyle/>
          <a:p>
            <a:pPr algn="just">
              <a:lnSpc>
                <a:spcPts val="7000"/>
              </a:lnSpc>
            </a:pPr>
            <a:r>
              <a:rPr lang="en-US" b="true" sz="5000">
                <a:solidFill>
                  <a:srgbClr val="F6FAFF"/>
                </a:solidFill>
                <a:latin typeface="Poppins Bold"/>
                <a:ea typeface="Poppins Bold"/>
                <a:cs typeface="Poppins Bold"/>
                <a:sym typeface="Poppins Bold"/>
              </a:rPr>
              <a:t>DATA OVERVIEW</a:t>
            </a:r>
          </a:p>
        </p:txBody>
      </p:sp>
      <p:sp>
        <p:nvSpPr>
          <p:cNvPr name="TextBox 13" id="13"/>
          <p:cNvSpPr txBox="true"/>
          <p:nvPr/>
        </p:nvSpPr>
        <p:spPr>
          <a:xfrm rot="0">
            <a:off x="589186" y="1355725"/>
            <a:ext cx="2930277" cy="349250"/>
          </a:xfrm>
          <a:prstGeom prst="rect">
            <a:avLst/>
          </a:prstGeom>
        </p:spPr>
        <p:txBody>
          <a:bodyPr anchor="t" rtlCol="false" tIns="0" lIns="0" bIns="0" rIns="0">
            <a:spAutoFit/>
          </a:bodyPr>
          <a:lstStyle/>
          <a:p>
            <a:pPr algn="l">
              <a:lnSpc>
                <a:spcPts val="2800"/>
              </a:lnSpc>
            </a:pPr>
            <a:r>
              <a:rPr lang="en-US" sz="2000">
                <a:solidFill>
                  <a:srgbClr val="0A3D82"/>
                </a:solidFill>
                <a:latin typeface="League Spartan"/>
                <a:ea typeface="League Spartan"/>
                <a:cs typeface="League Spartan"/>
                <a:sym typeface="League Spartan"/>
              </a:rPr>
              <a:t>DISCOUNT OVERVIEW</a:t>
            </a:r>
          </a:p>
        </p:txBody>
      </p:sp>
      <p:sp>
        <p:nvSpPr>
          <p:cNvPr name="TextBox 14" id="14"/>
          <p:cNvSpPr txBox="true"/>
          <p:nvPr/>
        </p:nvSpPr>
        <p:spPr>
          <a:xfrm rot="0">
            <a:off x="4510441" y="5202238"/>
            <a:ext cx="3752056" cy="2209121"/>
          </a:xfrm>
          <a:prstGeom prst="rect">
            <a:avLst/>
          </a:prstGeom>
        </p:spPr>
        <p:txBody>
          <a:bodyPr anchor="t" rtlCol="false" tIns="0" lIns="0" bIns="0" rIns="0">
            <a:spAutoFit/>
          </a:bodyPr>
          <a:lstStyle/>
          <a:p>
            <a:pPr algn="just">
              <a:lnSpc>
                <a:spcPts val="1612"/>
              </a:lnSpc>
            </a:pPr>
            <a:r>
              <a:rPr lang="en-US" sz="1151">
                <a:solidFill>
                  <a:srgbClr val="0A3D82"/>
                </a:solidFill>
                <a:latin typeface="Glacial Indifference"/>
                <a:ea typeface="Glacial Indifference"/>
                <a:cs typeface="Glacial Indifference"/>
                <a:sym typeface="Glacial Indifference"/>
              </a:rPr>
              <a:t>The bar chart of average margin by discount level, it is observed that the hi</a:t>
            </a:r>
            <a:r>
              <a:rPr lang="en-US" sz="1151">
                <a:solidFill>
                  <a:srgbClr val="0A3D82"/>
                </a:solidFill>
                <a:latin typeface="Glacial Indifference"/>
                <a:ea typeface="Glacial Indifference"/>
                <a:cs typeface="Glacial Indifference"/>
                <a:sym typeface="Glacial Indifference"/>
              </a:rPr>
              <a:t>gher the discount rate, the lower the margin. The margin decreases by about 20% relative to the baseline when moving from low to high discount levels. This 20% is calculated from the difference between the average margin at low and high discount levels (0.07) divided by the average margin at the low discount level (0.33), resulting in 20%.</a:t>
            </a:r>
          </a:p>
          <a:p>
            <a:pPr algn="just">
              <a:lnSpc>
                <a:spcPts val="1612"/>
              </a:lnSpc>
            </a:pPr>
          </a:p>
          <a:p>
            <a:pPr algn="just">
              <a:lnSpc>
                <a:spcPts val="1612"/>
              </a:lnSpc>
            </a:pPr>
            <a:r>
              <a:rPr lang="en-US" sz="1151">
                <a:solidFill>
                  <a:srgbClr val="0A3D82"/>
                </a:solidFill>
                <a:latin typeface="Glacial Indifference"/>
                <a:ea typeface="Glacial Indifference"/>
                <a:cs typeface="Glacial Indifference"/>
                <a:sym typeface="Glacial Indifference"/>
              </a:rPr>
              <a:t>Therefore, discounts are identified as a key driver of inefficiency at the transaction level.</a:t>
            </a:r>
          </a:p>
        </p:txBody>
      </p:sp>
      <p:sp>
        <p:nvSpPr>
          <p:cNvPr name="TextBox 15" id="15"/>
          <p:cNvSpPr txBox="true"/>
          <p:nvPr/>
        </p:nvSpPr>
        <p:spPr>
          <a:xfrm rot="0">
            <a:off x="589186" y="8240034"/>
            <a:ext cx="7644482" cy="709886"/>
          </a:xfrm>
          <a:prstGeom prst="rect">
            <a:avLst/>
          </a:prstGeom>
        </p:spPr>
        <p:txBody>
          <a:bodyPr anchor="t" rtlCol="false" tIns="0" lIns="0" bIns="0" rIns="0">
            <a:spAutoFit/>
          </a:bodyPr>
          <a:lstStyle/>
          <a:p>
            <a:pPr algn="just">
              <a:lnSpc>
                <a:spcPts val="2872"/>
              </a:lnSpc>
            </a:pPr>
            <a:r>
              <a:rPr lang="en-US" sz="2051" b="true">
                <a:solidFill>
                  <a:srgbClr val="0A3D82"/>
                </a:solidFill>
                <a:latin typeface="Glacial Indifference Bold"/>
                <a:ea typeface="Glacial Indifference Bold"/>
                <a:cs typeface="Glacial Indifference Bold"/>
                <a:sym typeface="Glacial Indifference Bold"/>
              </a:rPr>
              <a:t>Conclusion: </a:t>
            </a:r>
            <a:r>
              <a:rPr lang="en-US" sz="2051">
                <a:solidFill>
                  <a:srgbClr val="0A3D82"/>
                </a:solidFill>
                <a:latin typeface="Glacial Indifference"/>
                <a:ea typeface="Glacial Indifference"/>
                <a:cs typeface="Glacial Indifference"/>
                <a:sym typeface="Glacial Indifference"/>
              </a:rPr>
              <a:t>Visually, sales, profit, cost, and margin are interrelated.</a:t>
            </a:r>
          </a:p>
          <a:p>
            <a:pPr algn="just">
              <a:lnSpc>
                <a:spcPts val="2872"/>
              </a:lnSpc>
            </a:pPr>
          </a:p>
        </p:txBody>
      </p:sp>
      <p:sp>
        <p:nvSpPr>
          <p:cNvPr name="TextBox 16" id="16"/>
          <p:cNvSpPr txBox="true"/>
          <p:nvPr/>
        </p:nvSpPr>
        <p:spPr>
          <a:xfrm rot="0">
            <a:off x="8930485" y="5105400"/>
            <a:ext cx="3604091" cy="1008971"/>
          </a:xfrm>
          <a:prstGeom prst="rect">
            <a:avLst/>
          </a:prstGeom>
        </p:spPr>
        <p:txBody>
          <a:bodyPr anchor="t" rtlCol="false" tIns="0" lIns="0" bIns="0" rIns="0">
            <a:spAutoFit/>
          </a:bodyPr>
          <a:lstStyle/>
          <a:p>
            <a:pPr algn="just">
              <a:lnSpc>
                <a:spcPts val="1612"/>
              </a:lnSpc>
            </a:pPr>
            <a:r>
              <a:rPr lang="en-US" sz="1151">
                <a:solidFill>
                  <a:srgbClr val="0A3D82"/>
                </a:solidFill>
                <a:latin typeface="Glacial Indifference"/>
                <a:ea typeface="Glacial Indifference"/>
                <a:cs typeface="Glacial Indifference"/>
                <a:sym typeface="Glacial Indifference"/>
              </a:rPr>
              <a:t>The points are widely dispersed with a slight downward</a:t>
            </a:r>
            <a:r>
              <a:rPr lang="en-US" sz="1151">
                <a:solidFill>
                  <a:srgbClr val="0A3D82"/>
                </a:solidFill>
                <a:latin typeface="Glacial Indifference"/>
                <a:ea typeface="Glacial Indifference"/>
                <a:cs typeface="Glacial Indifference"/>
                <a:sym typeface="Glacial Indifference"/>
              </a:rPr>
              <a:t> trend as cost increases, indicating that higher costs tend to reduce profitability. However, this relationship is relatively weak, suggesting that cost does not strongly explain inefficiency.</a:t>
            </a:r>
          </a:p>
        </p:txBody>
      </p:sp>
      <p:sp>
        <p:nvSpPr>
          <p:cNvPr name="TextBox 17" id="17"/>
          <p:cNvSpPr txBox="true"/>
          <p:nvPr/>
        </p:nvSpPr>
        <p:spPr>
          <a:xfrm rot="0">
            <a:off x="331218" y="9614916"/>
            <a:ext cx="9360619" cy="672084"/>
          </a:xfrm>
          <a:prstGeom prst="rect">
            <a:avLst/>
          </a:prstGeom>
        </p:spPr>
        <p:txBody>
          <a:bodyPr anchor="t" rtlCol="false" tIns="0" lIns="0" bIns="0" rIns="0">
            <a:spAutoFit/>
          </a:bodyPr>
          <a:lstStyle/>
          <a:p>
            <a:pPr algn="just">
              <a:lnSpc>
                <a:spcPts val="1727"/>
              </a:lnSpc>
            </a:pPr>
            <a:r>
              <a:rPr lang="en-US" sz="1599">
                <a:solidFill>
                  <a:srgbClr val="004AAD"/>
                </a:solidFill>
                <a:latin typeface="Glacial Indifference"/>
                <a:ea typeface="Glacial Indifference"/>
                <a:cs typeface="Glacial Indifference"/>
                <a:sym typeface="Glacial Indifference"/>
              </a:rPr>
              <a:t>optimizing profitability and discount strategy</a:t>
            </a:r>
          </a:p>
          <a:p>
            <a:pPr algn="just">
              <a:lnSpc>
                <a:spcPts val="1727"/>
              </a:lnSpc>
            </a:pPr>
            <a:r>
              <a:rPr lang="en-US" sz="1599">
                <a:solidFill>
                  <a:srgbClr val="004AAD"/>
                </a:solidFill>
                <a:latin typeface="Glacial Indifference"/>
                <a:ea typeface="Glacial Indifference"/>
                <a:cs typeface="Glacial Indifference"/>
                <a:sym typeface="Glacial Indifference"/>
              </a:rPr>
              <a:t>using retail business analytics data - Dea &amp; Lauzia</a:t>
            </a:r>
          </a:p>
          <a:p>
            <a:pPr algn="just">
              <a:lnSpc>
                <a:spcPts val="1727"/>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6FAFF"/>
        </a:solidFill>
      </p:bgPr>
    </p:bg>
    <p:spTree>
      <p:nvGrpSpPr>
        <p:cNvPr id="1" name=""/>
        <p:cNvGrpSpPr/>
        <p:nvPr/>
      </p:nvGrpSpPr>
      <p:grpSpPr>
        <a:xfrm>
          <a:off x="0" y="0"/>
          <a:ext cx="0" cy="0"/>
          <a:chOff x="0" y="0"/>
          <a:chExt cx="0" cy="0"/>
        </a:xfrm>
      </p:grpSpPr>
      <p:grpSp>
        <p:nvGrpSpPr>
          <p:cNvPr name="Group 2" id="2"/>
          <p:cNvGrpSpPr/>
          <p:nvPr/>
        </p:nvGrpSpPr>
        <p:grpSpPr>
          <a:xfrm rot="0">
            <a:off x="230075" y="217177"/>
            <a:ext cx="16581914" cy="1060310"/>
            <a:chOff x="0" y="0"/>
            <a:chExt cx="4367253" cy="279259"/>
          </a:xfrm>
        </p:grpSpPr>
        <p:sp>
          <p:nvSpPr>
            <p:cNvPr name="Freeform 3" id="3"/>
            <p:cNvSpPr/>
            <p:nvPr/>
          </p:nvSpPr>
          <p:spPr>
            <a:xfrm flipH="false" flipV="false" rot="0">
              <a:off x="0" y="0"/>
              <a:ext cx="4367253" cy="279259"/>
            </a:xfrm>
            <a:custGeom>
              <a:avLst/>
              <a:gdLst/>
              <a:ahLst/>
              <a:cxnLst/>
              <a:rect r="r" b="b" t="t" l="l"/>
              <a:pathLst>
                <a:path h="279259" w="4367253">
                  <a:moveTo>
                    <a:pt x="0" y="0"/>
                  </a:moveTo>
                  <a:lnTo>
                    <a:pt x="4367253" y="0"/>
                  </a:lnTo>
                  <a:lnTo>
                    <a:pt x="4367253" y="279259"/>
                  </a:lnTo>
                  <a:lnTo>
                    <a:pt x="0" y="279259"/>
                  </a:lnTo>
                  <a:close/>
                </a:path>
              </a:pathLst>
            </a:custGeom>
            <a:solidFill>
              <a:srgbClr val="0A3D82"/>
            </a:solidFill>
          </p:spPr>
        </p:sp>
        <p:sp>
          <p:nvSpPr>
            <p:cNvPr name="TextBox 4" id="4"/>
            <p:cNvSpPr txBox="true"/>
            <p:nvPr/>
          </p:nvSpPr>
          <p:spPr>
            <a:xfrm>
              <a:off x="0" y="-38100"/>
              <a:ext cx="4367253" cy="317359"/>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5712392" y="2656680"/>
            <a:ext cx="1546908" cy="638099"/>
          </a:xfrm>
          <a:custGeom>
            <a:avLst/>
            <a:gdLst/>
            <a:ahLst/>
            <a:cxnLst/>
            <a:rect r="r" b="b" t="t" l="l"/>
            <a:pathLst>
              <a:path h="638099" w="1546908">
                <a:moveTo>
                  <a:pt x="0" y="0"/>
                </a:moveTo>
                <a:lnTo>
                  <a:pt x="1546908" y="0"/>
                </a:lnTo>
                <a:lnTo>
                  <a:pt x="1546908" y="638099"/>
                </a:lnTo>
                <a:lnTo>
                  <a:pt x="0" y="6380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7259300" y="9220200"/>
            <a:ext cx="152400" cy="190500"/>
          </a:xfrm>
          <a:prstGeom prst="rect">
            <a:avLst/>
          </a:prstGeom>
        </p:spPr>
        <p:txBody>
          <a:bodyPr anchor="t" rtlCol="false" tIns="0" lIns="0" bIns="0" rIns="0" wrap="none">
            <a:spAutoFit/>
          </a:bodyPr>
          <a:lstStyle/>
          <a:p>
            <a:pPr algn="ctr">
              <a:lnSpc>
                <a:spcPts val="1679"/>
              </a:lnSpc>
              <a:spcBef>
                <a:spcPct val="0"/>
              </a:spcBef>
            </a:pPr>
            <a:r>
              <a:rPr lang="en-US" sz="1200">
                <a:solidFill>
                  <a:srgbClr val="000000"/>
                </a:solidFill>
                <a:latin typeface="Arimo"/>
                <a:ea typeface="Arimo"/>
                <a:cs typeface="Arimo"/>
                <a:sym typeface="Arimo"/>
              </a:rPr>
              <a:t>Halaman 9 dari 13</a:t>
            </a:r>
          </a:p>
        </p:txBody>
      </p:sp>
      <p:sp>
        <p:nvSpPr>
          <p:cNvPr name="Freeform 7" id="7"/>
          <p:cNvSpPr/>
          <p:nvPr/>
        </p:nvSpPr>
        <p:spPr>
          <a:xfrm flipH="false" flipV="false" rot="4363940">
            <a:off x="13720571" y="1586867"/>
            <a:ext cx="10893107" cy="8796184"/>
          </a:xfrm>
          <a:custGeom>
            <a:avLst/>
            <a:gdLst/>
            <a:ahLst/>
            <a:cxnLst/>
            <a:rect r="r" b="b" t="t" l="l"/>
            <a:pathLst>
              <a:path h="8796184" w="10893107">
                <a:moveTo>
                  <a:pt x="0" y="0"/>
                </a:moveTo>
                <a:lnTo>
                  <a:pt x="10893107" y="0"/>
                </a:lnTo>
                <a:lnTo>
                  <a:pt x="10893107" y="8796184"/>
                </a:lnTo>
                <a:lnTo>
                  <a:pt x="0" y="87961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589186" y="2193062"/>
            <a:ext cx="7496855" cy="2465409"/>
          </a:xfrm>
          <a:custGeom>
            <a:avLst/>
            <a:gdLst/>
            <a:ahLst/>
            <a:cxnLst/>
            <a:rect r="r" b="b" t="t" l="l"/>
            <a:pathLst>
              <a:path h="2465409" w="7496855">
                <a:moveTo>
                  <a:pt x="0" y="0"/>
                </a:moveTo>
                <a:lnTo>
                  <a:pt x="7496855" y="0"/>
                </a:lnTo>
                <a:lnTo>
                  <a:pt x="7496855" y="2465409"/>
                </a:lnTo>
                <a:lnTo>
                  <a:pt x="0" y="2465409"/>
                </a:lnTo>
                <a:lnTo>
                  <a:pt x="0" y="0"/>
                </a:lnTo>
                <a:close/>
              </a:path>
            </a:pathLst>
          </a:custGeom>
          <a:blipFill>
            <a:blip r:embed="rId6"/>
            <a:stretch>
              <a:fillRect l="0" t="0" r="0" b="0"/>
            </a:stretch>
          </a:blipFill>
        </p:spPr>
      </p:sp>
      <p:sp>
        <p:nvSpPr>
          <p:cNvPr name="Freeform 9" id="9"/>
          <p:cNvSpPr/>
          <p:nvPr/>
        </p:nvSpPr>
        <p:spPr>
          <a:xfrm flipH="false" flipV="false" rot="0">
            <a:off x="8521032" y="2170994"/>
            <a:ext cx="5320808" cy="2487478"/>
          </a:xfrm>
          <a:custGeom>
            <a:avLst/>
            <a:gdLst/>
            <a:ahLst/>
            <a:cxnLst/>
            <a:rect r="r" b="b" t="t" l="l"/>
            <a:pathLst>
              <a:path h="2487478" w="5320808">
                <a:moveTo>
                  <a:pt x="0" y="0"/>
                </a:moveTo>
                <a:lnTo>
                  <a:pt x="5320807" y="0"/>
                </a:lnTo>
                <a:lnTo>
                  <a:pt x="5320807" y="2487477"/>
                </a:lnTo>
                <a:lnTo>
                  <a:pt x="0" y="2487477"/>
                </a:lnTo>
                <a:lnTo>
                  <a:pt x="0" y="0"/>
                </a:lnTo>
                <a:close/>
              </a:path>
            </a:pathLst>
          </a:custGeom>
          <a:blipFill>
            <a:blip r:embed="rId7"/>
            <a:stretch>
              <a:fillRect l="0" t="0" r="0" b="0"/>
            </a:stretch>
          </a:blipFill>
        </p:spPr>
      </p:sp>
      <p:sp>
        <p:nvSpPr>
          <p:cNvPr name="TextBox 10" id="10"/>
          <p:cNvSpPr txBox="true"/>
          <p:nvPr/>
        </p:nvSpPr>
        <p:spPr>
          <a:xfrm rot="0">
            <a:off x="589186" y="217901"/>
            <a:ext cx="9529338" cy="901700"/>
          </a:xfrm>
          <a:prstGeom prst="rect">
            <a:avLst/>
          </a:prstGeom>
        </p:spPr>
        <p:txBody>
          <a:bodyPr anchor="t" rtlCol="false" tIns="0" lIns="0" bIns="0" rIns="0">
            <a:spAutoFit/>
          </a:bodyPr>
          <a:lstStyle/>
          <a:p>
            <a:pPr algn="just">
              <a:lnSpc>
                <a:spcPts val="7000"/>
              </a:lnSpc>
            </a:pPr>
            <a:r>
              <a:rPr lang="en-US" b="true" sz="5000">
                <a:solidFill>
                  <a:srgbClr val="F6FAFF"/>
                </a:solidFill>
                <a:latin typeface="Poppins Bold"/>
                <a:ea typeface="Poppins Bold"/>
                <a:cs typeface="Poppins Bold"/>
                <a:sym typeface="Poppins Bold"/>
              </a:rPr>
              <a:t>DATA OVERVIEW</a:t>
            </a:r>
          </a:p>
        </p:txBody>
      </p:sp>
      <p:sp>
        <p:nvSpPr>
          <p:cNvPr name="TextBox 11" id="11"/>
          <p:cNvSpPr txBox="true"/>
          <p:nvPr/>
        </p:nvSpPr>
        <p:spPr>
          <a:xfrm rot="0">
            <a:off x="589186" y="1355725"/>
            <a:ext cx="4486126" cy="349250"/>
          </a:xfrm>
          <a:prstGeom prst="rect">
            <a:avLst/>
          </a:prstGeom>
        </p:spPr>
        <p:txBody>
          <a:bodyPr anchor="t" rtlCol="false" tIns="0" lIns="0" bIns="0" rIns="0">
            <a:spAutoFit/>
          </a:bodyPr>
          <a:lstStyle/>
          <a:p>
            <a:pPr algn="l">
              <a:lnSpc>
                <a:spcPts val="2800"/>
              </a:lnSpc>
            </a:pPr>
            <a:r>
              <a:rPr lang="en-US" sz="2000">
                <a:solidFill>
                  <a:srgbClr val="0A3D82"/>
                </a:solidFill>
                <a:latin typeface="League Spartan"/>
                <a:ea typeface="League Spartan"/>
                <a:cs typeface="League Spartan"/>
                <a:sym typeface="League Spartan"/>
              </a:rPr>
              <a:t>MARGIN AND COST BY DISCOUNT</a:t>
            </a:r>
          </a:p>
        </p:txBody>
      </p:sp>
      <p:sp>
        <p:nvSpPr>
          <p:cNvPr name="TextBox 12" id="12"/>
          <p:cNvSpPr txBox="true"/>
          <p:nvPr/>
        </p:nvSpPr>
        <p:spPr>
          <a:xfrm rot="0">
            <a:off x="589186" y="7318228"/>
            <a:ext cx="17698814" cy="709886"/>
          </a:xfrm>
          <a:prstGeom prst="rect">
            <a:avLst/>
          </a:prstGeom>
        </p:spPr>
        <p:txBody>
          <a:bodyPr anchor="t" rtlCol="false" tIns="0" lIns="0" bIns="0" rIns="0">
            <a:spAutoFit/>
          </a:bodyPr>
          <a:lstStyle/>
          <a:p>
            <a:pPr algn="just">
              <a:lnSpc>
                <a:spcPts val="2872"/>
              </a:lnSpc>
            </a:pPr>
            <a:r>
              <a:rPr lang="en-US" sz="2051" b="true">
                <a:solidFill>
                  <a:srgbClr val="0A3D82"/>
                </a:solidFill>
                <a:latin typeface="Glacial Indifference Bold"/>
                <a:ea typeface="Glacial Indifference Bold"/>
                <a:cs typeface="Glacial Indifference Bold"/>
                <a:sym typeface="Glacial Indifference Bold"/>
              </a:rPr>
              <a:t>Conclusion: </a:t>
            </a:r>
            <a:r>
              <a:rPr lang="en-US" sz="2051">
                <a:solidFill>
                  <a:srgbClr val="0A3D82"/>
                </a:solidFill>
                <a:latin typeface="Glacial Indifference"/>
                <a:ea typeface="Glacial Indifference"/>
                <a:cs typeface="Glacial Indifference"/>
                <a:sym typeface="Glacial Indifference"/>
              </a:rPr>
              <a:t>Visually and</a:t>
            </a:r>
            <a:r>
              <a:rPr lang="en-US" sz="2051" b="true">
                <a:solidFill>
                  <a:srgbClr val="0A3D82"/>
                </a:solidFill>
                <a:latin typeface="Glacial Indifference Bold"/>
                <a:ea typeface="Glacial Indifference Bold"/>
                <a:cs typeface="Glacial Indifference Bold"/>
                <a:sym typeface="Glacial Indifference Bold"/>
              </a:rPr>
              <a:t> </a:t>
            </a:r>
            <a:r>
              <a:rPr lang="en-US" sz="2051">
                <a:solidFill>
                  <a:srgbClr val="0A3D82"/>
                </a:solidFill>
                <a:latin typeface="Glacial Indifference"/>
                <a:ea typeface="Glacial Indifference"/>
                <a:cs typeface="Glacial Indifference"/>
                <a:sym typeface="Glacial Indifference"/>
              </a:rPr>
              <a:t>statistically, medium and high discount factors have a significant and substantial impact on margin, while cost has a significant but relatively small effect on margin.</a:t>
            </a:r>
          </a:p>
        </p:txBody>
      </p:sp>
      <p:sp>
        <p:nvSpPr>
          <p:cNvPr name="TextBox 13" id="13"/>
          <p:cNvSpPr txBox="true"/>
          <p:nvPr/>
        </p:nvSpPr>
        <p:spPr>
          <a:xfrm rot="0">
            <a:off x="589186" y="4975989"/>
            <a:ext cx="7179564" cy="1008971"/>
          </a:xfrm>
          <a:prstGeom prst="rect">
            <a:avLst/>
          </a:prstGeom>
        </p:spPr>
        <p:txBody>
          <a:bodyPr anchor="t" rtlCol="false" tIns="0" lIns="0" bIns="0" rIns="0">
            <a:spAutoFit/>
          </a:bodyPr>
          <a:lstStyle/>
          <a:p>
            <a:pPr algn="just">
              <a:lnSpc>
                <a:spcPts val="1612"/>
              </a:lnSpc>
            </a:pPr>
            <a:r>
              <a:rPr lang="en-US" sz="1151">
                <a:solidFill>
                  <a:srgbClr val="0A3D82"/>
                </a:solidFill>
                <a:latin typeface="Glacial Indifference"/>
                <a:ea typeface="Glacial Indifference"/>
                <a:cs typeface="Glacial Indifference"/>
                <a:sym typeface="Glacial Indifference"/>
              </a:rPr>
              <a:t>There are three plots: low discount, medium discount, and high discount. In all three plots, the margin</a:t>
            </a:r>
            <a:r>
              <a:rPr lang="en-US" sz="1151">
                <a:solidFill>
                  <a:srgbClr val="0A3D82"/>
                </a:solidFill>
                <a:latin typeface="Glacial Indifference"/>
                <a:ea typeface="Glacial Indifference"/>
                <a:cs typeface="Glacial Indifference"/>
                <a:sym typeface="Glacial Indifference"/>
              </a:rPr>
              <a:t> trend line decreases as cost increases, indicating that cost affects margin at all discount levels.</a:t>
            </a:r>
          </a:p>
          <a:p>
            <a:pPr algn="just">
              <a:lnSpc>
                <a:spcPts val="1612"/>
              </a:lnSpc>
            </a:pPr>
            <a:r>
              <a:rPr lang="en-US" sz="1151">
                <a:solidFill>
                  <a:srgbClr val="0A3D82"/>
                </a:solidFill>
                <a:latin typeface="Glacial Indifference"/>
                <a:ea typeface="Glacial Indifference"/>
                <a:cs typeface="Glacial Indifference"/>
                <a:sym typeface="Glacial Indifference"/>
              </a:rPr>
              <a:t>Visually, the slope differs across plots: the slope in the low discount plot declines slightly, the medium discount plot declines more, and the high discount plot shows the steepest decline. This means that as the discount increases, the negative effect of cost on margin becomes stronger.</a:t>
            </a:r>
          </a:p>
        </p:txBody>
      </p:sp>
      <p:sp>
        <p:nvSpPr>
          <p:cNvPr name="TextBox 14" id="14"/>
          <p:cNvSpPr txBox="true"/>
          <p:nvPr/>
        </p:nvSpPr>
        <p:spPr>
          <a:xfrm rot="0">
            <a:off x="8521032" y="5105400"/>
            <a:ext cx="5320808" cy="408896"/>
          </a:xfrm>
          <a:prstGeom prst="rect">
            <a:avLst/>
          </a:prstGeom>
        </p:spPr>
        <p:txBody>
          <a:bodyPr anchor="t" rtlCol="false" tIns="0" lIns="0" bIns="0" rIns="0">
            <a:spAutoFit/>
          </a:bodyPr>
          <a:lstStyle/>
          <a:p>
            <a:pPr algn="just">
              <a:lnSpc>
                <a:spcPts val="1612"/>
              </a:lnSpc>
            </a:pPr>
            <a:r>
              <a:rPr lang="en-US" sz="1151">
                <a:solidFill>
                  <a:srgbClr val="0A3D82"/>
                </a:solidFill>
                <a:latin typeface="Glacial Indifference"/>
                <a:ea typeface="Glacial Indifference"/>
                <a:cs typeface="Glacial Indifference"/>
                <a:sym typeface="Glacial Indifference"/>
              </a:rPr>
              <a:t>Medium discount, high discount, and cost have a significant effect on margin.</a:t>
            </a:r>
          </a:p>
          <a:p>
            <a:pPr algn="just">
              <a:lnSpc>
                <a:spcPts val="1612"/>
              </a:lnSpc>
            </a:pPr>
          </a:p>
        </p:txBody>
      </p:sp>
      <p:sp>
        <p:nvSpPr>
          <p:cNvPr name="TextBox 15" id="15"/>
          <p:cNvSpPr txBox="true"/>
          <p:nvPr/>
        </p:nvSpPr>
        <p:spPr>
          <a:xfrm rot="0">
            <a:off x="331218" y="9614916"/>
            <a:ext cx="9360619" cy="672084"/>
          </a:xfrm>
          <a:prstGeom prst="rect">
            <a:avLst/>
          </a:prstGeom>
        </p:spPr>
        <p:txBody>
          <a:bodyPr anchor="t" rtlCol="false" tIns="0" lIns="0" bIns="0" rIns="0">
            <a:spAutoFit/>
          </a:bodyPr>
          <a:lstStyle/>
          <a:p>
            <a:pPr algn="just">
              <a:lnSpc>
                <a:spcPts val="1727"/>
              </a:lnSpc>
            </a:pPr>
            <a:r>
              <a:rPr lang="en-US" sz="1599">
                <a:solidFill>
                  <a:srgbClr val="004AAD"/>
                </a:solidFill>
                <a:latin typeface="Glacial Indifference"/>
                <a:ea typeface="Glacial Indifference"/>
                <a:cs typeface="Glacial Indifference"/>
                <a:sym typeface="Glacial Indifference"/>
              </a:rPr>
              <a:t>optimizing profitability and discount strategy</a:t>
            </a:r>
          </a:p>
          <a:p>
            <a:pPr algn="just">
              <a:lnSpc>
                <a:spcPts val="1727"/>
              </a:lnSpc>
            </a:pPr>
            <a:r>
              <a:rPr lang="en-US" sz="1599">
                <a:solidFill>
                  <a:srgbClr val="004AAD"/>
                </a:solidFill>
                <a:latin typeface="Glacial Indifference"/>
                <a:ea typeface="Glacial Indifference"/>
                <a:cs typeface="Glacial Indifference"/>
                <a:sym typeface="Glacial Indifference"/>
              </a:rPr>
              <a:t>using retail business analytics data - Dea &amp; Lauzia</a:t>
            </a:r>
          </a:p>
          <a:p>
            <a:pPr algn="just">
              <a:lnSpc>
                <a:spcPts val="1727"/>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6FAFF"/>
        </a:solidFill>
      </p:bgPr>
    </p:bg>
    <p:spTree>
      <p:nvGrpSpPr>
        <p:cNvPr id="1" name=""/>
        <p:cNvGrpSpPr/>
        <p:nvPr/>
      </p:nvGrpSpPr>
      <p:grpSpPr>
        <a:xfrm>
          <a:off x="0" y="0"/>
          <a:ext cx="0" cy="0"/>
          <a:chOff x="0" y="0"/>
          <a:chExt cx="0" cy="0"/>
        </a:xfrm>
      </p:grpSpPr>
      <p:grpSp>
        <p:nvGrpSpPr>
          <p:cNvPr name="Group 2" id="2"/>
          <p:cNvGrpSpPr/>
          <p:nvPr/>
        </p:nvGrpSpPr>
        <p:grpSpPr>
          <a:xfrm rot="0">
            <a:off x="230075" y="217177"/>
            <a:ext cx="16581914" cy="1060310"/>
            <a:chOff x="0" y="0"/>
            <a:chExt cx="4367253" cy="279259"/>
          </a:xfrm>
        </p:grpSpPr>
        <p:sp>
          <p:nvSpPr>
            <p:cNvPr name="Freeform 3" id="3"/>
            <p:cNvSpPr/>
            <p:nvPr/>
          </p:nvSpPr>
          <p:spPr>
            <a:xfrm flipH="false" flipV="false" rot="0">
              <a:off x="0" y="0"/>
              <a:ext cx="4367253" cy="279259"/>
            </a:xfrm>
            <a:custGeom>
              <a:avLst/>
              <a:gdLst/>
              <a:ahLst/>
              <a:cxnLst/>
              <a:rect r="r" b="b" t="t" l="l"/>
              <a:pathLst>
                <a:path h="279259" w="4367253">
                  <a:moveTo>
                    <a:pt x="0" y="0"/>
                  </a:moveTo>
                  <a:lnTo>
                    <a:pt x="4367253" y="0"/>
                  </a:lnTo>
                  <a:lnTo>
                    <a:pt x="4367253" y="279259"/>
                  </a:lnTo>
                  <a:lnTo>
                    <a:pt x="0" y="279259"/>
                  </a:lnTo>
                  <a:close/>
                </a:path>
              </a:pathLst>
            </a:custGeom>
            <a:solidFill>
              <a:srgbClr val="0A3D82"/>
            </a:solidFill>
          </p:spPr>
        </p:sp>
        <p:sp>
          <p:nvSpPr>
            <p:cNvPr name="TextBox 4" id="4"/>
            <p:cNvSpPr txBox="true"/>
            <p:nvPr/>
          </p:nvSpPr>
          <p:spPr>
            <a:xfrm>
              <a:off x="0" y="-38100"/>
              <a:ext cx="4367253" cy="317359"/>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5712392" y="2656680"/>
            <a:ext cx="1546908" cy="638099"/>
          </a:xfrm>
          <a:custGeom>
            <a:avLst/>
            <a:gdLst/>
            <a:ahLst/>
            <a:cxnLst/>
            <a:rect r="r" b="b" t="t" l="l"/>
            <a:pathLst>
              <a:path h="638099" w="1546908">
                <a:moveTo>
                  <a:pt x="0" y="0"/>
                </a:moveTo>
                <a:lnTo>
                  <a:pt x="1546908" y="0"/>
                </a:lnTo>
                <a:lnTo>
                  <a:pt x="1546908" y="638099"/>
                </a:lnTo>
                <a:lnTo>
                  <a:pt x="0" y="6380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7259300" y="9220200"/>
            <a:ext cx="152400" cy="190500"/>
          </a:xfrm>
          <a:prstGeom prst="rect">
            <a:avLst/>
          </a:prstGeom>
        </p:spPr>
        <p:txBody>
          <a:bodyPr anchor="t" rtlCol="false" tIns="0" lIns="0" bIns="0" rIns="0" wrap="none">
            <a:spAutoFit/>
          </a:bodyPr>
          <a:lstStyle/>
          <a:p>
            <a:pPr algn="ctr">
              <a:lnSpc>
                <a:spcPts val="1679"/>
              </a:lnSpc>
              <a:spcBef>
                <a:spcPct val="0"/>
              </a:spcBef>
            </a:pPr>
            <a:r>
              <a:rPr lang="en-US" sz="1200">
                <a:solidFill>
                  <a:srgbClr val="000000"/>
                </a:solidFill>
                <a:latin typeface="Arimo"/>
                <a:ea typeface="Arimo"/>
                <a:cs typeface="Arimo"/>
                <a:sym typeface="Arimo"/>
              </a:rPr>
              <a:t>Halaman 10 dari 13</a:t>
            </a:r>
          </a:p>
        </p:txBody>
      </p:sp>
      <p:sp>
        <p:nvSpPr>
          <p:cNvPr name="Freeform 7" id="7"/>
          <p:cNvSpPr/>
          <p:nvPr/>
        </p:nvSpPr>
        <p:spPr>
          <a:xfrm flipH="false" flipV="false" rot="4363940">
            <a:off x="13720571" y="1586867"/>
            <a:ext cx="10893107" cy="8796184"/>
          </a:xfrm>
          <a:custGeom>
            <a:avLst/>
            <a:gdLst/>
            <a:ahLst/>
            <a:cxnLst/>
            <a:rect r="r" b="b" t="t" l="l"/>
            <a:pathLst>
              <a:path h="8796184" w="10893107">
                <a:moveTo>
                  <a:pt x="0" y="0"/>
                </a:moveTo>
                <a:lnTo>
                  <a:pt x="10893107" y="0"/>
                </a:lnTo>
                <a:lnTo>
                  <a:pt x="10893107" y="8796184"/>
                </a:lnTo>
                <a:lnTo>
                  <a:pt x="0" y="87961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589186" y="2033933"/>
            <a:ext cx="5797283" cy="1883594"/>
          </a:xfrm>
          <a:custGeom>
            <a:avLst/>
            <a:gdLst/>
            <a:ahLst/>
            <a:cxnLst/>
            <a:rect r="r" b="b" t="t" l="l"/>
            <a:pathLst>
              <a:path h="1883594" w="5797283">
                <a:moveTo>
                  <a:pt x="0" y="0"/>
                </a:moveTo>
                <a:lnTo>
                  <a:pt x="5797282" y="0"/>
                </a:lnTo>
                <a:lnTo>
                  <a:pt x="5797282" y="1883593"/>
                </a:lnTo>
                <a:lnTo>
                  <a:pt x="0" y="1883593"/>
                </a:lnTo>
                <a:lnTo>
                  <a:pt x="0" y="0"/>
                </a:lnTo>
                <a:close/>
              </a:path>
            </a:pathLst>
          </a:custGeom>
          <a:blipFill>
            <a:blip r:embed="rId6"/>
            <a:stretch>
              <a:fillRect l="0" t="0" r="0" b="0"/>
            </a:stretch>
          </a:blipFill>
        </p:spPr>
      </p:sp>
      <p:sp>
        <p:nvSpPr>
          <p:cNvPr name="Freeform 9" id="9"/>
          <p:cNvSpPr/>
          <p:nvPr/>
        </p:nvSpPr>
        <p:spPr>
          <a:xfrm flipH="false" flipV="false" rot="0">
            <a:off x="6882250" y="2006643"/>
            <a:ext cx="6316968" cy="1910883"/>
          </a:xfrm>
          <a:custGeom>
            <a:avLst/>
            <a:gdLst/>
            <a:ahLst/>
            <a:cxnLst/>
            <a:rect r="r" b="b" t="t" l="l"/>
            <a:pathLst>
              <a:path h="1910883" w="6316968">
                <a:moveTo>
                  <a:pt x="0" y="0"/>
                </a:moveTo>
                <a:lnTo>
                  <a:pt x="6316969" y="0"/>
                </a:lnTo>
                <a:lnTo>
                  <a:pt x="6316969" y="1910883"/>
                </a:lnTo>
                <a:lnTo>
                  <a:pt x="0" y="1910883"/>
                </a:lnTo>
                <a:lnTo>
                  <a:pt x="0" y="0"/>
                </a:lnTo>
                <a:close/>
              </a:path>
            </a:pathLst>
          </a:custGeom>
          <a:blipFill>
            <a:blip r:embed="rId7"/>
            <a:stretch>
              <a:fillRect l="0" t="0" r="0" b="0"/>
            </a:stretch>
          </a:blipFill>
        </p:spPr>
      </p:sp>
      <p:sp>
        <p:nvSpPr>
          <p:cNvPr name="TextBox 10" id="10"/>
          <p:cNvSpPr txBox="true"/>
          <p:nvPr/>
        </p:nvSpPr>
        <p:spPr>
          <a:xfrm rot="0">
            <a:off x="589186" y="4212801"/>
            <a:ext cx="5797283" cy="1609046"/>
          </a:xfrm>
          <a:prstGeom prst="rect">
            <a:avLst/>
          </a:prstGeom>
        </p:spPr>
        <p:txBody>
          <a:bodyPr anchor="t" rtlCol="false" tIns="0" lIns="0" bIns="0" rIns="0">
            <a:spAutoFit/>
          </a:bodyPr>
          <a:lstStyle/>
          <a:p>
            <a:pPr algn="just">
              <a:lnSpc>
                <a:spcPts val="1612"/>
              </a:lnSpc>
            </a:pPr>
            <a:r>
              <a:rPr lang="en-US" sz="1151">
                <a:solidFill>
                  <a:srgbClr val="0A3D82"/>
                </a:solidFill>
                <a:latin typeface="Glacial Indifference"/>
                <a:ea typeface="Glacial Indifference"/>
                <a:cs typeface="Glacial Indifference"/>
                <a:sym typeface="Glacial Indifference"/>
              </a:rPr>
              <a:t>Based on the table/chart, all regions generate relatively similar levels of</a:t>
            </a:r>
            <a:r>
              <a:rPr lang="en-US" sz="1151">
                <a:solidFill>
                  <a:srgbClr val="0A3D82"/>
                </a:solidFill>
                <a:latin typeface="Glacial Indifference"/>
                <a:ea typeface="Glacial Indifference"/>
                <a:cs typeface="Glacial Indifference"/>
                <a:sym typeface="Glacial Indifference"/>
              </a:rPr>
              <a:t> sales, cost, and profit. The North region has the highest sales and profit, followed by East and West, while the South region shows slightly lower performance compared to the others.</a:t>
            </a:r>
          </a:p>
          <a:p>
            <a:pPr algn="just">
              <a:lnSpc>
                <a:spcPts val="1612"/>
              </a:lnSpc>
            </a:pPr>
          </a:p>
          <a:p>
            <a:pPr algn="just">
              <a:lnSpc>
                <a:spcPts val="1612"/>
              </a:lnSpc>
            </a:pPr>
            <a:r>
              <a:rPr lang="en-US" sz="1151">
                <a:solidFill>
                  <a:srgbClr val="0A3D82"/>
                </a:solidFill>
                <a:latin typeface="Glacial Indifference"/>
                <a:ea typeface="Glacial Indifference"/>
                <a:cs typeface="Glacial Indifference"/>
                <a:sym typeface="Glacial Indifference"/>
              </a:rPr>
              <a:t>However, the differences across regions are relatively small, indicating that performance is fairly consistent geographically. This suggests that regional differences are more likely driven by transaction volume rather than operational efficiency. This indication still needs to be validated through inferential statistical testing.</a:t>
            </a:r>
          </a:p>
        </p:txBody>
      </p:sp>
      <p:sp>
        <p:nvSpPr>
          <p:cNvPr name="TextBox 11" id="11"/>
          <p:cNvSpPr txBox="true"/>
          <p:nvPr/>
        </p:nvSpPr>
        <p:spPr>
          <a:xfrm rot="0">
            <a:off x="589186" y="217901"/>
            <a:ext cx="9529338" cy="901700"/>
          </a:xfrm>
          <a:prstGeom prst="rect">
            <a:avLst/>
          </a:prstGeom>
        </p:spPr>
        <p:txBody>
          <a:bodyPr anchor="t" rtlCol="false" tIns="0" lIns="0" bIns="0" rIns="0">
            <a:spAutoFit/>
          </a:bodyPr>
          <a:lstStyle/>
          <a:p>
            <a:pPr algn="just">
              <a:lnSpc>
                <a:spcPts val="7000"/>
              </a:lnSpc>
            </a:pPr>
            <a:r>
              <a:rPr lang="en-US" b="true" sz="5000">
                <a:solidFill>
                  <a:srgbClr val="F6FAFF"/>
                </a:solidFill>
                <a:latin typeface="Poppins Bold"/>
                <a:ea typeface="Poppins Bold"/>
                <a:cs typeface="Poppins Bold"/>
                <a:sym typeface="Poppins Bold"/>
              </a:rPr>
              <a:t>DATA OVERVIEW</a:t>
            </a:r>
          </a:p>
        </p:txBody>
      </p:sp>
      <p:sp>
        <p:nvSpPr>
          <p:cNvPr name="TextBox 12" id="12"/>
          <p:cNvSpPr txBox="true"/>
          <p:nvPr/>
        </p:nvSpPr>
        <p:spPr>
          <a:xfrm rot="0">
            <a:off x="589186" y="1355725"/>
            <a:ext cx="2580233" cy="349250"/>
          </a:xfrm>
          <a:prstGeom prst="rect">
            <a:avLst/>
          </a:prstGeom>
        </p:spPr>
        <p:txBody>
          <a:bodyPr anchor="t" rtlCol="false" tIns="0" lIns="0" bIns="0" rIns="0">
            <a:spAutoFit/>
          </a:bodyPr>
          <a:lstStyle/>
          <a:p>
            <a:pPr algn="l">
              <a:lnSpc>
                <a:spcPts val="2800"/>
              </a:lnSpc>
            </a:pPr>
            <a:r>
              <a:rPr lang="en-US" sz="2000">
                <a:solidFill>
                  <a:srgbClr val="0A3D82"/>
                </a:solidFill>
                <a:latin typeface="League Spartan"/>
                <a:ea typeface="League Spartan"/>
                <a:cs typeface="League Spartan"/>
                <a:sym typeface="League Spartan"/>
              </a:rPr>
              <a:t>REGION OVERVIEW</a:t>
            </a:r>
          </a:p>
        </p:txBody>
      </p:sp>
      <p:sp>
        <p:nvSpPr>
          <p:cNvPr name="TextBox 13" id="13"/>
          <p:cNvSpPr txBox="true"/>
          <p:nvPr/>
        </p:nvSpPr>
        <p:spPr>
          <a:xfrm rot="0">
            <a:off x="589186" y="8240034"/>
            <a:ext cx="15678745" cy="347936"/>
          </a:xfrm>
          <a:prstGeom prst="rect">
            <a:avLst/>
          </a:prstGeom>
        </p:spPr>
        <p:txBody>
          <a:bodyPr anchor="t" rtlCol="false" tIns="0" lIns="0" bIns="0" rIns="0">
            <a:spAutoFit/>
          </a:bodyPr>
          <a:lstStyle/>
          <a:p>
            <a:pPr algn="just">
              <a:lnSpc>
                <a:spcPts val="2872"/>
              </a:lnSpc>
            </a:pPr>
            <a:r>
              <a:rPr lang="en-US" sz="2051" b="true">
                <a:solidFill>
                  <a:srgbClr val="0A3D82"/>
                </a:solidFill>
                <a:latin typeface="Glacial Indifference Bold"/>
                <a:ea typeface="Glacial Indifference Bold"/>
                <a:cs typeface="Glacial Indifference Bold"/>
                <a:sym typeface="Glacial Indifference Bold"/>
              </a:rPr>
              <a:t>Conclusion: </a:t>
            </a:r>
            <a:r>
              <a:rPr lang="en-US" sz="2051">
                <a:solidFill>
                  <a:srgbClr val="0A3D82"/>
                </a:solidFill>
                <a:latin typeface="Glacial Indifference"/>
                <a:ea typeface="Glacial Indifference"/>
                <a:cs typeface="Glacial Indifference"/>
                <a:sym typeface="Glacial Indifference"/>
              </a:rPr>
              <a:t>Visually, descriptive statistics and inferential statistics have confirmed that region does not have a significant effect on margin.</a:t>
            </a:r>
          </a:p>
        </p:txBody>
      </p:sp>
      <p:sp>
        <p:nvSpPr>
          <p:cNvPr name="TextBox 14" id="14"/>
          <p:cNvSpPr txBox="true"/>
          <p:nvPr/>
        </p:nvSpPr>
        <p:spPr>
          <a:xfrm rot="0">
            <a:off x="6969857" y="4212801"/>
            <a:ext cx="5797283" cy="808946"/>
          </a:xfrm>
          <a:prstGeom prst="rect">
            <a:avLst/>
          </a:prstGeom>
        </p:spPr>
        <p:txBody>
          <a:bodyPr anchor="t" rtlCol="false" tIns="0" lIns="0" bIns="0" rIns="0">
            <a:spAutoFit/>
          </a:bodyPr>
          <a:lstStyle/>
          <a:p>
            <a:pPr algn="just">
              <a:lnSpc>
                <a:spcPts val="1612"/>
              </a:lnSpc>
            </a:pPr>
            <a:r>
              <a:rPr lang="en-US" sz="1151">
                <a:solidFill>
                  <a:srgbClr val="0A3D82"/>
                </a:solidFill>
                <a:latin typeface="Glacial Indifference"/>
                <a:ea typeface="Glacial Indifference"/>
                <a:cs typeface="Glacial Indifference"/>
                <a:sym typeface="Glacial Indifference"/>
              </a:rPr>
              <a:t>Based on the linear regression output, the regional variable does not</a:t>
            </a:r>
            <a:r>
              <a:rPr lang="en-US" sz="1151">
                <a:solidFill>
                  <a:srgbClr val="0A3D82"/>
                </a:solidFill>
                <a:latin typeface="Glacial Indifference"/>
                <a:ea typeface="Glacial Indifference"/>
                <a:cs typeface="Glacial Indifference"/>
                <a:sym typeface="Glacial Indifference"/>
              </a:rPr>
              <a:t> have a significant effect on efficiency or margin, as indicated by the F-statistic value (0.2103 &gt; 0.05). This is further supported by the R-squared value of 0.00, meaning that the region variable explains 0% of the variation in margin, indicating no margin differences across regions.</a:t>
            </a:r>
          </a:p>
        </p:txBody>
      </p:sp>
      <p:sp>
        <p:nvSpPr>
          <p:cNvPr name="TextBox 15" id="15"/>
          <p:cNvSpPr txBox="true"/>
          <p:nvPr/>
        </p:nvSpPr>
        <p:spPr>
          <a:xfrm rot="0">
            <a:off x="331218" y="9614916"/>
            <a:ext cx="9360619" cy="672084"/>
          </a:xfrm>
          <a:prstGeom prst="rect">
            <a:avLst/>
          </a:prstGeom>
        </p:spPr>
        <p:txBody>
          <a:bodyPr anchor="t" rtlCol="false" tIns="0" lIns="0" bIns="0" rIns="0">
            <a:spAutoFit/>
          </a:bodyPr>
          <a:lstStyle/>
          <a:p>
            <a:pPr algn="just">
              <a:lnSpc>
                <a:spcPts val="1727"/>
              </a:lnSpc>
            </a:pPr>
            <a:r>
              <a:rPr lang="en-US" sz="1599">
                <a:solidFill>
                  <a:srgbClr val="004AAD"/>
                </a:solidFill>
                <a:latin typeface="Glacial Indifference"/>
                <a:ea typeface="Glacial Indifference"/>
                <a:cs typeface="Glacial Indifference"/>
                <a:sym typeface="Glacial Indifference"/>
              </a:rPr>
              <a:t>optimizing profitability and discount strategy</a:t>
            </a:r>
          </a:p>
          <a:p>
            <a:pPr algn="just">
              <a:lnSpc>
                <a:spcPts val="1727"/>
              </a:lnSpc>
            </a:pPr>
            <a:r>
              <a:rPr lang="en-US" sz="1599">
                <a:solidFill>
                  <a:srgbClr val="004AAD"/>
                </a:solidFill>
                <a:latin typeface="Glacial Indifference"/>
                <a:ea typeface="Glacial Indifference"/>
                <a:cs typeface="Glacial Indifference"/>
                <a:sym typeface="Glacial Indifference"/>
              </a:rPr>
              <a:t>using retail business analytics data - Dea &amp; Lauzia</a:t>
            </a:r>
          </a:p>
          <a:p>
            <a:pPr algn="just">
              <a:lnSpc>
                <a:spcPts val="1727"/>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6FAFF"/>
        </a:solidFill>
      </p:bgPr>
    </p:bg>
    <p:spTree>
      <p:nvGrpSpPr>
        <p:cNvPr id="1" name=""/>
        <p:cNvGrpSpPr/>
        <p:nvPr/>
      </p:nvGrpSpPr>
      <p:grpSpPr>
        <a:xfrm>
          <a:off x="0" y="0"/>
          <a:ext cx="0" cy="0"/>
          <a:chOff x="0" y="0"/>
          <a:chExt cx="0" cy="0"/>
        </a:xfrm>
      </p:grpSpPr>
      <p:grpSp>
        <p:nvGrpSpPr>
          <p:cNvPr name="Group 2" id="2"/>
          <p:cNvGrpSpPr/>
          <p:nvPr/>
        </p:nvGrpSpPr>
        <p:grpSpPr>
          <a:xfrm rot="0">
            <a:off x="230075" y="217177"/>
            <a:ext cx="16581914" cy="1060310"/>
            <a:chOff x="0" y="0"/>
            <a:chExt cx="4367253" cy="279259"/>
          </a:xfrm>
        </p:grpSpPr>
        <p:sp>
          <p:nvSpPr>
            <p:cNvPr name="Freeform 3" id="3"/>
            <p:cNvSpPr/>
            <p:nvPr/>
          </p:nvSpPr>
          <p:spPr>
            <a:xfrm flipH="false" flipV="false" rot="0">
              <a:off x="0" y="0"/>
              <a:ext cx="4367253" cy="279259"/>
            </a:xfrm>
            <a:custGeom>
              <a:avLst/>
              <a:gdLst/>
              <a:ahLst/>
              <a:cxnLst/>
              <a:rect r="r" b="b" t="t" l="l"/>
              <a:pathLst>
                <a:path h="279259" w="4367253">
                  <a:moveTo>
                    <a:pt x="0" y="0"/>
                  </a:moveTo>
                  <a:lnTo>
                    <a:pt x="4367253" y="0"/>
                  </a:lnTo>
                  <a:lnTo>
                    <a:pt x="4367253" y="279259"/>
                  </a:lnTo>
                  <a:lnTo>
                    <a:pt x="0" y="279259"/>
                  </a:lnTo>
                  <a:close/>
                </a:path>
              </a:pathLst>
            </a:custGeom>
            <a:solidFill>
              <a:srgbClr val="0A3D82"/>
            </a:solidFill>
          </p:spPr>
        </p:sp>
        <p:sp>
          <p:nvSpPr>
            <p:cNvPr name="TextBox 4" id="4"/>
            <p:cNvSpPr txBox="true"/>
            <p:nvPr/>
          </p:nvSpPr>
          <p:spPr>
            <a:xfrm>
              <a:off x="0" y="-38100"/>
              <a:ext cx="4367253" cy="317359"/>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5712392" y="2656680"/>
            <a:ext cx="1546908" cy="638099"/>
          </a:xfrm>
          <a:custGeom>
            <a:avLst/>
            <a:gdLst/>
            <a:ahLst/>
            <a:cxnLst/>
            <a:rect r="r" b="b" t="t" l="l"/>
            <a:pathLst>
              <a:path h="638099" w="1546908">
                <a:moveTo>
                  <a:pt x="0" y="0"/>
                </a:moveTo>
                <a:lnTo>
                  <a:pt x="1546908" y="0"/>
                </a:lnTo>
                <a:lnTo>
                  <a:pt x="1546908" y="638099"/>
                </a:lnTo>
                <a:lnTo>
                  <a:pt x="0" y="6380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7259300" y="9220200"/>
            <a:ext cx="152400" cy="190500"/>
          </a:xfrm>
          <a:prstGeom prst="rect">
            <a:avLst/>
          </a:prstGeom>
        </p:spPr>
        <p:txBody>
          <a:bodyPr anchor="t" rtlCol="false" tIns="0" lIns="0" bIns="0" rIns="0" wrap="none">
            <a:spAutoFit/>
          </a:bodyPr>
          <a:lstStyle/>
          <a:p>
            <a:pPr algn="ctr">
              <a:lnSpc>
                <a:spcPts val="1679"/>
              </a:lnSpc>
              <a:spcBef>
                <a:spcPct val="0"/>
              </a:spcBef>
            </a:pPr>
            <a:r>
              <a:rPr lang="en-US" sz="1200">
                <a:solidFill>
                  <a:srgbClr val="000000"/>
                </a:solidFill>
                <a:latin typeface="Arimo"/>
                <a:ea typeface="Arimo"/>
                <a:cs typeface="Arimo"/>
                <a:sym typeface="Arimo"/>
              </a:rPr>
              <a:t>Halaman 11 dari 13</a:t>
            </a:r>
          </a:p>
        </p:txBody>
      </p:sp>
      <p:sp>
        <p:nvSpPr>
          <p:cNvPr name="Freeform 7" id="7"/>
          <p:cNvSpPr/>
          <p:nvPr/>
        </p:nvSpPr>
        <p:spPr>
          <a:xfrm flipH="false" flipV="false" rot="4363940">
            <a:off x="13720571" y="1586867"/>
            <a:ext cx="10893107" cy="8796184"/>
          </a:xfrm>
          <a:custGeom>
            <a:avLst/>
            <a:gdLst/>
            <a:ahLst/>
            <a:cxnLst/>
            <a:rect r="r" b="b" t="t" l="l"/>
            <a:pathLst>
              <a:path h="8796184" w="10893107">
                <a:moveTo>
                  <a:pt x="0" y="0"/>
                </a:moveTo>
                <a:lnTo>
                  <a:pt x="10893107" y="0"/>
                </a:lnTo>
                <a:lnTo>
                  <a:pt x="10893107" y="8796184"/>
                </a:lnTo>
                <a:lnTo>
                  <a:pt x="0" y="87961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aphicFrame>
        <p:nvGraphicFramePr>
          <p:cNvPr name="Object 8" id="8"/>
          <p:cNvGraphicFramePr/>
          <p:nvPr/>
        </p:nvGraphicFramePr>
        <p:xfrm>
          <a:off x="589186" y="1724118"/>
          <a:ext cx="16230600" cy="3005667"/>
        </p:xfrm>
        <a:graphic>
          <a:graphicData uri="http://schemas.openxmlformats.org/presentationml/2006/ole">
            <p:oleObj imgW="19469100" imgH="6248400" r:id="rId7" progId="Excel.Sheet.12" name="Worksheet">
              <p:embed/>
              <p:pic>
                <p:nvPicPr>
                  <p:cNvPr name="" id="0"/>
                  <p:cNvPicPr/>
                  <p:nvPr/>
                </p:nvPicPr>
                <p:blipFill>
                  <a:blip r:embed="rId6"/>
                  <a:stretch>
                    <a:fillRect/>
                  </a:stretch>
                </p:blipFill>
                <p:spPr>
                  <a:xfrm>
                    <a:off x="1270000" y="1270000"/>
                    <a:ext cx="1270000" cy="1270000"/>
                  </a:xfrm>
                  <a:prstGeom prst="rect"/>
                </p:spPr>
              </p:pic>
            </p:oleObj>
          </a:graphicData>
        </a:graphic>
      </p:graphicFrame>
      <p:sp>
        <p:nvSpPr>
          <p:cNvPr name="TextBox 9" id="9"/>
          <p:cNvSpPr txBox="true"/>
          <p:nvPr/>
        </p:nvSpPr>
        <p:spPr>
          <a:xfrm rot="0">
            <a:off x="589186" y="5445949"/>
            <a:ext cx="9923809" cy="808946"/>
          </a:xfrm>
          <a:prstGeom prst="rect">
            <a:avLst/>
          </a:prstGeom>
        </p:spPr>
        <p:txBody>
          <a:bodyPr anchor="t" rtlCol="false" tIns="0" lIns="0" bIns="0" rIns="0">
            <a:spAutoFit/>
          </a:bodyPr>
          <a:lstStyle/>
          <a:p>
            <a:pPr algn="just">
              <a:lnSpc>
                <a:spcPts val="1612"/>
              </a:lnSpc>
            </a:pPr>
            <a:r>
              <a:rPr lang="en-US" sz="1151">
                <a:solidFill>
                  <a:srgbClr val="0A3D82"/>
                </a:solidFill>
                <a:latin typeface="Glacial Indifference"/>
                <a:ea typeface="Glacial Indifference"/>
                <a:cs typeface="Glacial Indifference"/>
                <a:sym typeface="Glacial Indifference"/>
              </a:rPr>
              <a:t>Based on simulations 1, 2</a:t>
            </a:r>
            <a:r>
              <a:rPr lang="en-US" sz="1151">
                <a:solidFill>
                  <a:srgbClr val="0A3D82"/>
                </a:solidFill>
                <a:latin typeface="Glacial Indifference"/>
                <a:ea typeface="Glacial Indifference"/>
                <a:cs typeface="Glacial Indifference"/>
                <a:sym typeface="Glacial Indifference"/>
              </a:rPr>
              <a:t>, 3, and 4, it can be seen that simulations 1 and 2 are the most likely to generate profit.</a:t>
            </a:r>
          </a:p>
          <a:p>
            <a:pPr algn="just">
              <a:lnSpc>
                <a:spcPts val="1612"/>
              </a:lnSpc>
            </a:pPr>
            <a:r>
              <a:rPr lang="en-US" sz="1151">
                <a:solidFill>
                  <a:srgbClr val="0A3D82"/>
                </a:solidFill>
                <a:latin typeface="Glacial Indifference"/>
                <a:ea typeface="Glacial Indifference"/>
                <a:cs typeface="Glacial Indifference"/>
                <a:sym typeface="Glacial Indifference"/>
              </a:rPr>
              <a:t>Although reducing discounts in simulation 1 can increase profit, it is very difficult to implement. Simulation 2 is more feasible to apply, even though it generates lower profit compared to simulation 1.</a:t>
            </a:r>
          </a:p>
          <a:p>
            <a:pPr algn="just">
              <a:lnSpc>
                <a:spcPts val="1612"/>
              </a:lnSpc>
            </a:pPr>
          </a:p>
        </p:txBody>
      </p:sp>
      <p:sp>
        <p:nvSpPr>
          <p:cNvPr name="TextBox 10" id="10"/>
          <p:cNvSpPr txBox="true"/>
          <p:nvPr/>
        </p:nvSpPr>
        <p:spPr>
          <a:xfrm rot="0">
            <a:off x="589186" y="217901"/>
            <a:ext cx="9529338" cy="901700"/>
          </a:xfrm>
          <a:prstGeom prst="rect">
            <a:avLst/>
          </a:prstGeom>
        </p:spPr>
        <p:txBody>
          <a:bodyPr anchor="t" rtlCol="false" tIns="0" lIns="0" bIns="0" rIns="0">
            <a:spAutoFit/>
          </a:bodyPr>
          <a:lstStyle/>
          <a:p>
            <a:pPr algn="just">
              <a:lnSpc>
                <a:spcPts val="7000"/>
              </a:lnSpc>
            </a:pPr>
            <a:r>
              <a:rPr lang="en-US" b="true" sz="5000">
                <a:solidFill>
                  <a:srgbClr val="F6FAFF"/>
                </a:solidFill>
                <a:latin typeface="Poppins Bold"/>
                <a:ea typeface="Poppins Bold"/>
                <a:cs typeface="Poppins Bold"/>
                <a:sym typeface="Poppins Bold"/>
              </a:rPr>
              <a:t>SIMULATION</a:t>
            </a:r>
          </a:p>
        </p:txBody>
      </p:sp>
      <p:sp>
        <p:nvSpPr>
          <p:cNvPr name="TextBox 11" id="11"/>
          <p:cNvSpPr txBox="true"/>
          <p:nvPr/>
        </p:nvSpPr>
        <p:spPr>
          <a:xfrm rot="0">
            <a:off x="331218" y="9614916"/>
            <a:ext cx="9360619" cy="672084"/>
          </a:xfrm>
          <a:prstGeom prst="rect">
            <a:avLst/>
          </a:prstGeom>
        </p:spPr>
        <p:txBody>
          <a:bodyPr anchor="t" rtlCol="false" tIns="0" lIns="0" bIns="0" rIns="0">
            <a:spAutoFit/>
          </a:bodyPr>
          <a:lstStyle/>
          <a:p>
            <a:pPr algn="just">
              <a:lnSpc>
                <a:spcPts val="1727"/>
              </a:lnSpc>
            </a:pPr>
            <a:r>
              <a:rPr lang="en-US" sz="1599">
                <a:solidFill>
                  <a:srgbClr val="004AAD"/>
                </a:solidFill>
                <a:latin typeface="Glacial Indifference"/>
                <a:ea typeface="Glacial Indifference"/>
                <a:cs typeface="Glacial Indifference"/>
                <a:sym typeface="Glacial Indifference"/>
              </a:rPr>
              <a:t>optimizing profitability and discount strategy</a:t>
            </a:r>
          </a:p>
          <a:p>
            <a:pPr algn="just">
              <a:lnSpc>
                <a:spcPts val="1727"/>
              </a:lnSpc>
            </a:pPr>
            <a:r>
              <a:rPr lang="en-US" sz="1599">
                <a:solidFill>
                  <a:srgbClr val="004AAD"/>
                </a:solidFill>
                <a:latin typeface="Glacial Indifference"/>
                <a:ea typeface="Glacial Indifference"/>
                <a:cs typeface="Glacial Indifference"/>
                <a:sym typeface="Glacial Indifference"/>
              </a:rPr>
              <a:t>using retail business analytics data - Dea &amp; Lauzia</a:t>
            </a:r>
          </a:p>
          <a:p>
            <a:pPr algn="just">
              <a:lnSpc>
                <a:spcPts val="1727"/>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6FAFF"/>
        </a:solidFill>
      </p:bgPr>
    </p:bg>
    <p:spTree>
      <p:nvGrpSpPr>
        <p:cNvPr id="1" name=""/>
        <p:cNvGrpSpPr/>
        <p:nvPr/>
      </p:nvGrpSpPr>
      <p:grpSpPr>
        <a:xfrm>
          <a:off x="0" y="0"/>
          <a:ext cx="0" cy="0"/>
          <a:chOff x="0" y="0"/>
          <a:chExt cx="0" cy="0"/>
        </a:xfrm>
      </p:grpSpPr>
      <p:grpSp>
        <p:nvGrpSpPr>
          <p:cNvPr name="Group 2" id="2"/>
          <p:cNvGrpSpPr/>
          <p:nvPr/>
        </p:nvGrpSpPr>
        <p:grpSpPr>
          <a:xfrm rot="0">
            <a:off x="230075" y="217177"/>
            <a:ext cx="16581914" cy="1060310"/>
            <a:chOff x="0" y="0"/>
            <a:chExt cx="4367253" cy="279259"/>
          </a:xfrm>
        </p:grpSpPr>
        <p:sp>
          <p:nvSpPr>
            <p:cNvPr name="Freeform 3" id="3"/>
            <p:cNvSpPr/>
            <p:nvPr/>
          </p:nvSpPr>
          <p:spPr>
            <a:xfrm flipH="false" flipV="false" rot="0">
              <a:off x="0" y="0"/>
              <a:ext cx="4367253" cy="279259"/>
            </a:xfrm>
            <a:custGeom>
              <a:avLst/>
              <a:gdLst/>
              <a:ahLst/>
              <a:cxnLst/>
              <a:rect r="r" b="b" t="t" l="l"/>
              <a:pathLst>
                <a:path h="279259" w="4367253">
                  <a:moveTo>
                    <a:pt x="0" y="0"/>
                  </a:moveTo>
                  <a:lnTo>
                    <a:pt x="4367253" y="0"/>
                  </a:lnTo>
                  <a:lnTo>
                    <a:pt x="4367253" y="279259"/>
                  </a:lnTo>
                  <a:lnTo>
                    <a:pt x="0" y="279259"/>
                  </a:lnTo>
                  <a:close/>
                </a:path>
              </a:pathLst>
            </a:custGeom>
            <a:solidFill>
              <a:srgbClr val="0A3D82"/>
            </a:solidFill>
          </p:spPr>
        </p:sp>
        <p:sp>
          <p:nvSpPr>
            <p:cNvPr name="TextBox 4" id="4"/>
            <p:cNvSpPr txBox="true"/>
            <p:nvPr/>
          </p:nvSpPr>
          <p:spPr>
            <a:xfrm>
              <a:off x="0" y="-38100"/>
              <a:ext cx="4367253" cy="317359"/>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5712392" y="2656680"/>
            <a:ext cx="1546908" cy="638099"/>
          </a:xfrm>
          <a:custGeom>
            <a:avLst/>
            <a:gdLst/>
            <a:ahLst/>
            <a:cxnLst/>
            <a:rect r="r" b="b" t="t" l="l"/>
            <a:pathLst>
              <a:path h="638099" w="1546908">
                <a:moveTo>
                  <a:pt x="0" y="0"/>
                </a:moveTo>
                <a:lnTo>
                  <a:pt x="1546908" y="0"/>
                </a:lnTo>
                <a:lnTo>
                  <a:pt x="1546908" y="638099"/>
                </a:lnTo>
                <a:lnTo>
                  <a:pt x="0" y="6380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7259300" y="9220200"/>
            <a:ext cx="152400" cy="190500"/>
          </a:xfrm>
          <a:prstGeom prst="rect">
            <a:avLst/>
          </a:prstGeom>
        </p:spPr>
        <p:txBody>
          <a:bodyPr anchor="t" rtlCol="false" tIns="0" lIns="0" bIns="0" rIns="0" wrap="none">
            <a:spAutoFit/>
          </a:bodyPr>
          <a:lstStyle/>
          <a:p>
            <a:pPr algn="ctr">
              <a:lnSpc>
                <a:spcPts val="1679"/>
              </a:lnSpc>
              <a:spcBef>
                <a:spcPct val="0"/>
              </a:spcBef>
            </a:pPr>
            <a:r>
              <a:rPr lang="en-US" sz="1200">
                <a:solidFill>
                  <a:srgbClr val="000000"/>
                </a:solidFill>
                <a:latin typeface="Arimo"/>
                <a:ea typeface="Arimo"/>
                <a:cs typeface="Arimo"/>
                <a:sym typeface="Arimo"/>
              </a:rPr>
              <a:t>Halaman 12 dari 13</a:t>
            </a:r>
          </a:p>
        </p:txBody>
      </p:sp>
      <p:sp>
        <p:nvSpPr>
          <p:cNvPr name="Freeform 7" id="7"/>
          <p:cNvSpPr/>
          <p:nvPr/>
        </p:nvSpPr>
        <p:spPr>
          <a:xfrm flipH="false" flipV="false" rot="4363940">
            <a:off x="13720571" y="1586867"/>
            <a:ext cx="10893107" cy="8796184"/>
          </a:xfrm>
          <a:custGeom>
            <a:avLst/>
            <a:gdLst/>
            <a:ahLst/>
            <a:cxnLst/>
            <a:rect r="r" b="b" t="t" l="l"/>
            <a:pathLst>
              <a:path h="8796184" w="10893107">
                <a:moveTo>
                  <a:pt x="0" y="0"/>
                </a:moveTo>
                <a:lnTo>
                  <a:pt x="10893107" y="0"/>
                </a:lnTo>
                <a:lnTo>
                  <a:pt x="10893107" y="8796184"/>
                </a:lnTo>
                <a:lnTo>
                  <a:pt x="0" y="87961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589186" y="1948337"/>
            <a:ext cx="9923809" cy="1378585"/>
          </a:xfrm>
          <a:prstGeom prst="rect">
            <a:avLst/>
          </a:prstGeom>
        </p:spPr>
        <p:txBody>
          <a:bodyPr anchor="t" rtlCol="false" tIns="0" lIns="0" bIns="0" rIns="0">
            <a:spAutoFit/>
          </a:bodyPr>
          <a:lstStyle/>
          <a:p>
            <a:pPr algn="just">
              <a:lnSpc>
                <a:spcPts val="2239"/>
              </a:lnSpc>
            </a:pPr>
            <a:r>
              <a:rPr lang="en-US" sz="1599">
                <a:solidFill>
                  <a:srgbClr val="0A3D82"/>
                </a:solidFill>
                <a:latin typeface="Glacial Indifference"/>
                <a:ea typeface="Glacial Indifference"/>
                <a:cs typeface="Glacial Indifference"/>
                <a:sym typeface="Glacial Indifference"/>
              </a:rPr>
              <a:t>From the analysis</a:t>
            </a:r>
            <a:r>
              <a:rPr lang="en-US" sz="1599">
                <a:solidFill>
                  <a:srgbClr val="0A3D82"/>
                </a:solidFill>
                <a:latin typeface="Glacial Indifference"/>
                <a:ea typeface="Glacial Indifference"/>
                <a:cs typeface="Glacial Indifference"/>
                <a:sym typeface="Glacial Indifference"/>
              </a:rPr>
              <a:t>, profit is not influenced by category or region, but by margin at the transaction level, where discount has the greatest impact.</a:t>
            </a:r>
          </a:p>
          <a:p>
            <a:pPr algn="just">
              <a:lnSpc>
                <a:spcPts val="2239"/>
              </a:lnSpc>
            </a:pPr>
            <a:r>
              <a:rPr lang="en-US" sz="1599">
                <a:solidFill>
                  <a:srgbClr val="0A3D82"/>
                </a:solidFill>
                <a:latin typeface="Glacial Indifference"/>
                <a:ea typeface="Glacial Indifference"/>
                <a:cs typeface="Glacial Indifference"/>
                <a:sym typeface="Glacial Indifference"/>
              </a:rPr>
              <a:t>However, the simulation results show that managing discounts alone is not sufficient to significantly improve profit. Therefore, a more effective short-term strategy is to gradually reduce high discounts, while the long-term recommendation is to combine discount management with cost efficiency.</a:t>
            </a:r>
          </a:p>
        </p:txBody>
      </p:sp>
      <p:sp>
        <p:nvSpPr>
          <p:cNvPr name="TextBox 9" id="9"/>
          <p:cNvSpPr txBox="true"/>
          <p:nvPr/>
        </p:nvSpPr>
        <p:spPr>
          <a:xfrm rot="0">
            <a:off x="589186" y="217901"/>
            <a:ext cx="9529338" cy="901700"/>
          </a:xfrm>
          <a:prstGeom prst="rect">
            <a:avLst/>
          </a:prstGeom>
        </p:spPr>
        <p:txBody>
          <a:bodyPr anchor="t" rtlCol="false" tIns="0" lIns="0" bIns="0" rIns="0">
            <a:spAutoFit/>
          </a:bodyPr>
          <a:lstStyle/>
          <a:p>
            <a:pPr algn="just">
              <a:lnSpc>
                <a:spcPts val="7000"/>
              </a:lnSpc>
            </a:pPr>
            <a:r>
              <a:rPr lang="en-US" b="true" sz="5000">
                <a:solidFill>
                  <a:srgbClr val="F6FAFF"/>
                </a:solidFill>
                <a:latin typeface="Poppins Bold"/>
                <a:ea typeface="Poppins Bold"/>
                <a:cs typeface="Poppins Bold"/>
                <a:sym typeface="Poppins Bold"/>
              </a:rPr>
              <a:t>RECOMMENDATION</a:t>
            </a:r>
          </a:p>
        </p:txBody>
      </p:sp>
      <p:sp>
        <p:nvSpPr>
          <p:cNvPr name="TextBox 10" id="10"/>
          <p:cNvSpPr txBox="true"/>
          <p:nvPr/>
        </p:nvSpPr>
        <p:spPr>
          <a:xfrm rot="0">
            <a:off x="331218" y="9614916"/>
            <a:ext cx="9360619" cy="672084"/>
          </a:xfrm>
          <a:prstGeom prst="rect">
            <a:avLst/>
          </a:prstGeom>
        </p:spPr>
        <p:txBody>
          <a:bodyPr anchor="t" rtlCol="false" tIns="0" lIns="0" bIns="0" rIns="0">
            <a:spAutoFit/>
          </a:bodyPr>
          <a:lstStyle/>
          <a:p>
            <a:pPr algn="just">
              <a:lnSpc>
                <a:spcPts val="1727"/>
              </a:lnSpc>
            </a:pPr>
            <a:r>
              <a:rPr lang="en-US" sz="1599">
                <a:solidFill>
                  <a:srgbClr val="004AAD"/>
                </a:solidFill>
                <a:latin typeface="Glacial Indifference"/>
                <a:ea typeface="Glacial Indifference"/>
                <a:cs typeface="Glacial Indifference"/>
                <a:sym typeface="Glacial Indifference"/>
              </a:rPr>
              <a:t>optimizing profitability and discount strategy</a:t>
            </a:r>
          </a:p>
          <a:p>
            <a:pPr algn="just">
              <a:lnSpc>
                <a:spcPts val="1727"/>
              </a:lnSpc>
            </a:pPr>
            <a:r>
              <a:rPr lang="en-US" sz="1599">
                <a:solidFill>
                  <a:srgbClr val="004AAD"/>
                </a:solidFill>
                <a:latin typeface="Glacial Indifference"/>
                <a:ea typeface="Glacial Indifference"/>
                <a:cs typeface="Glacial Indifference"/>
                <a:sym typeface="Glacial Indifference"/>
              </a:rPr>
              <a:t>using retail business analytics data - Dea &amp; Lauzia</a:t>
            </a:r>
          </a:p>
          <a:p>
            <a:pPr algn="just">
              <a:lnSpc>
                <a:spcPts val="1727"/>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A3D82"/>
        </a:solidFill>
      </p:bgPr>
    </p:bg>
    <p:spTree>
      <p:nvGrpSpPr>
        <p:cNvPr id="1" name=""/>
        <p:cNvGrpSpPr/>
        <p:nvPr/>
      </p:nvGrpSpPr>
      <p:grpSpPr>
        <a:xfrm>
          <a:off x="0" y="0"/>
          <a:ext cx="0" cy="0"/>
          <a:chOff x="0" y="0"/>
          <a:chExt cx="0" cy="0"/>
        </a:xfrm>
      </p:grpSpPr>
      <p:sp>
        <p:nvSpPr>
          <p:cNvPr name="Freeform 2" id="2"/>
          <p:cNvSpPr/>
          <p:nvPr/>
        </p:nvSpPr>
        <p:spPr>
          <a:xfrm flipH="false" flipV="false" rot="4363940">
            <a:off x="-5876572" y="-617241"/>
            <a:ext cx="14980020" cy="12096366"/>
          </a:xfrm>
          <a:custGeom>
            <a:avLst/>
            <a:gdLst/>
            <a:ahLst/>
            <a:cxnLst/>
            <a:rect r="r" b="b" t="t" l="l"/>
            <a:pathLst>
              <a:path h="12096366" w="14980020">
                <a:moveTo>
                  <a:pt x="0" y="0"/>
                </a:moveTo>
                <a:lnTo>
                  <a:pt x="14980020" y="0"/>
                </a:lnTo>
                <a:lnTo>
                  <a:pt x="14980020" y="12096367"/>
                </a:lnTo>
                <a:lnTo>
                  <a:pt x="0" y="120963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10767060" y="5657031"/>
            <a:ext cx="6492240" cy="0"/>
          </a:xfrm>
          <a:prstGeom prst="line">
            <a:avLst/>
          </a:prstGeom>
          <a:ln cap="flat" w="38100">
            <a:solidFill>
              <a:srgbClr val="F6FAFF"/>
            </a:solidFill>
            <a:prstDash val="solid"/>
            <a:headEnd type="none" len="sm" w="sm"/>
            <a:tailEnd type="none" len="sm" w="sm"/>
          </a:ln>
        </p:spPr>
      </p:sp>
      <p:sp>
        <p:nvSpPr>
          <p:cNvPr name="Freeform 4" id="4"/>
          <p:cNvSpPr/>
          <p:nvPr/>
        </p:nvSpPr>
        <p:spPr>
          <a:xfrm flipH="false" flipV="false" rot="0">
            <a:off x="15712392" y="709650"/>
            <a:ext cx="1546908" cy="638099"/>
          </a:xfrm>
          <a:custGeom>
            <a:avLst/>
            <a:gdLst/>
            <a:ahLst/>
            <a:cxnLst/>
            <a:rect r="r" b="b" t="t" l="l"/>
            <a:pathLst>
              <a:path h="638099" w="1546908">
                <a:moveTo>
                  <a:pt x="0" y="0"/>
                </a:moveTo>
                <a:lnTo>
                  <a:pt x="1546908" y="0"/>
                </a:lnTo>
                <a:lnTo>
                  <a:pt x="1546908" y="638100"/>
                </a:lnTo>
                <a:lnTo>
                  <a:pt x="0" y="6381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5712392" y="8939250"/>
            <a:ext cx="1546908" cy="638099"/>
          </a:xfrm>
          <a:custGeom>
            <a:avLst/>
            <a:gdLst/>
            <a:ahLst/>
            <a:cxnLst/>
            <a:rect r="r" b="b" t="t" l="l"/>
            <a:pathLst>
              <a:path h="638099" w="1546908">
                <a:moveTo>
                  <a:pt x="1546908" y="0"/>
                </a:moveTo>
                <a:lnTo>
                  <a:pt x="0" y="0"/>
                </a:lnTo>
                <a:lnTo>
                  <a:pt x="0" y="638100"/>
                </a:lnTo>
                <a:lnTo>
                  <a:pt x="1546908" y="638100"/>
                </a:lnTo>
                <a:lnTo>
                  <a:pt x="154690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6" id="6"/>
          <p:cNvSpPr/>
          <p:nvPr/>
        </p:nvSpPr>
        <p:spPr>
          <a:xfrm>
            <a:off x="9993606" y="5895156"/>
            <a:ext cx="6492240" cy="0"/>
          </a:xfrm>
          <a:prstGeom prst="line">
            <a:avLst/>
          </a:prstGeom>
          <a:ln cap="flat" w="38100">
            <a:solidFill>
              <a:srgbClr val="F6FAFF"/>
            </a:solidFill>
            <a:prstDash val="solid"/>
            <a:headEnd type="none" len="sm" w="sm"/>
            <a:tailEnd type="none" len="sm" w="sm"/>
          </a:ln>
        </p:spPr>
      </p:sp>
      <p:sp>
        <p:nvSpPr>
          <p:cNvPr name="TextBox 7" id="7"/>
          <p:cNvSpPr txBox="true"/>
          <p:nvPr/>
        </p:nvSpPr>
        <p:spPr>
          <a:xfrm rot="0">
            <a:off x="7729962" y="3605847"/>
            <a:ext cx="9529338" cy="1825096"/>
          </a:xfrm>
          <a:prstGeom prst="rect">
            <a:avLst/>
          </a:prstGeom>
        </p:spPr>
        <p:txBody>
          <a:bodyPr anchor="t" rtlCol="false" tIns="0" lIns="0" bIns="0" rIns="0">
            <a:spAutoFit/>
          </a:bodyPr>
          <a:lstStyle/>
          <a:p>
            <a:pPr algn="r">
              <a:lnSpc>
                <a:spcPts val="14915"/>
              </a:lnSpc>
            </a:pPr>
            <a:r>
              <a:rPr lang="en-US" sz="10653">
                <a:solidFill>
                  <a:srgbClr val="F6FAFF"/>
                </a:solidFill>
                <a:latin typeface="League Spartan"/>
                <a:ea typeface="League Spartan"/>
                <a:cs typeface="League Spartan"/>
                <a:sym typeface="League Spartan"/>
              </a:rPr>
              <a:t>THANK YOU</a:t>
            </a:r>
          </a:p>
        </p:txBody>
      </p:sp>
      <p:sp>
        <p:nvSpPr>
          <p:cNvPr name="TextBox 8" id="8"/>
          <p:cNvSpPr txBox="true"/>
          <p:nvPr/>
        </p:nvSpPr>
        <p:spPr>
          <a:xfrm rot="0">
            <a:off x="17259300" y="9220200"/>
            <a:ext cx="152400" cy="190500"/>
          </a:xfrm>
          <a:prstGeom prst="rect">
            <a:avLst/>
          </a:prstGeom>
        </p:spPr>
        <p:txBody>
          <a:bodyPr anchor="t" rtlCol="false" tIns="0" lIns="0" bIns="0" rIns="0" wrap="none">
            <a:spAutoFit/>
          </a:bodyPr>
          <a:lstStyle/>
          <a:p>
            <a:pPr algn="ctr">
              <a:lnSpc>
                <a:spcPts val="1679"/>
              </a:lnSpc>
              <a:spcBef>
                <a:spcPct val="0"/>
              </a:spcBef>
            </a:pPr>
            <a:r>
              <a:rPr lang="en-US" sz="1200">
                <a:solidFill>
                  <a:srgbClr val="000000"/>
                </a:solidFill>
                <a:latin typeface="Arimo"/>
                <a:ea typeface="Arimo"/>
                <a:cs typeface="Arimo"/>
                <a:sym typeface="Arimo"/>
              </a:rPr>
              <a:t>Halaman 13 dari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DAHFWKADsmE</dc:identifier>
  <dcterms:modified xsi:type="dcterms:W3CDTF">2011-08-01T06:04:30Z</dcterms:modified>
  <cp:revision>1</cp:revision>
  <dc:title>Profit Optimization Analysis Understanding Discount &amp; Cost Impact</dc:title>
</cp:coreProperties>
</file>